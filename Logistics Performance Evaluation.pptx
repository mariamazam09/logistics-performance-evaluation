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77" r:id="rId5"/>
    <p:sldId id="286" r:id="rId6"/>
    <p:sldId id="284" r:id="rId7"/>
    <p:sldId id="278" r:id="rId8"/>
    <p:sldId id="281" r:id="rId9"/>
    <p:sldId id="282" r:id="rId10"/>
    <p:sldId id="283" r:id="rId11"/>
    <p:sldId id="293" r:id="rId12"/>
    <p:sldId id="291" r:id="rId13"/>
    <p:sldId id="287" r:id="rId14"/>
    <p:sldId id="292" r:id="rId15"/>
    <p:sldId id="288" r:id="rId16"/>
    <p:sldId id="295" r:id="rId17"/>
    <p:sldId id="296" r:id="rId18"/>
  </p:sldIdLst>
  <p:sldSz cx="18288000" cy="10287000"/>
  <p:notesSz cx="6858000" cy="9144000"/>
  <p:embeddedFontLst>
    <p:embeddedFont>
      <p:font typeface="Abadi Extra Light" panose="020B0604020202020204" charset="0"/>
      <p:regular r:id="rId20"/>
    </p:embeddedFont>
    <p:embeddedFont>
      <p:font typeface="ADLaM Display" panose="02010000000000000000" pitchFamily="2" charset="0"/>
      <p:regular r:id="rId21"/>
    </p:embeddedFont>
    <p:embeddedFont>
      <p:font typeface="Cairo Bold" panose="020B0604020202020204" charset="-78"/>
      <p:regular r:id="rId22"/>
    </p:embeddedFont>
    <p:embeddedFont>
      <p:font typeface="Modern Love" panose="04090805081005020601" pitchFamily="82" charset="0"/>
      <p:regular r:id="rId23"/>
    </p:embeddedFont>
    <p:embeddedFont>
      <p:font typeface="Open Sans Extra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9FA"/>
    <a:srgbClr val="6E3C59"/>
    <a:srgbClr val="6B6B6B"/>
    <a:srgbClr val="C2C2C2"/>
    <a:srgbClr val="AE6A91"/>
    <a:srgbClr val="C0F2CF"/>
    <a:srgbClr val="9D97BB"/>
    <a:srgbClr val="ECDCAB"/>
    <a:srgbClr val="B9C595"/>
    <a:srgbClr val="FDE7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22" autoAdjust="0"/>
  </p:normalViewPr>
  <p:slideViewPr>
    <p:cSldViewPr>
      <p:cViewPr varScale="1">
        <p:scale>
          <a:sx n="47" d="100"/>
          <a:sy n="47" d="100"/>
        </p:scale>
        <p:origin x="514" y="2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4:53:09.34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B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8FAAF561-57F6-4194-BEEE-F920F089E3A3}" type="datetimeFigureOut">
              <a:rPr lang="ar-BH" smtClean="0"/>
              <a:t>01/06/1447</a:t>
            </a:fld>
            <a:endParaRPr lang="ar-B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B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B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B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A9018E26-E51F-4733-8832-CBD1CCB14E35}" type="slidenum">
              <a:rPr lang="ar-BH" smtClean="0"/>
              <a:t>‹#›</a:t>
            </a:fld>
            <a:endParaRPr lang="ar-BH"/>
          </a:p>
        </p:txBody>
      </p:sp>
    </p:spTree>
    <p:extLst>
      <p:ext uri="{BB962C8B-B14F-4D97-AF65-F5344CB8AC3E}">
        <p14:creationId xmlns:p14="http://schemas.microsoft.com/office/powerpoint/2010/main" val="2346238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BH" dirty="0"/>
          </a:p>
        </p:txBody>
      </p:sp>
      <p:sp>
        <p:nvSpPr>
          <p:cNvPr id="4" name="Slide Number Placeholder 3"/>
          <p:cNvSpPr>
            <a:spLocks noGrp="1"/>
          </p:cNvSpPr>
          <p:nvPr>
            <p:ph type="sldNum" sz="quarter" idx="5"/>
          </p:nvPr>
        </p:nvSpPr>
        <p:spPr/>
        <p:txBody>
          <a:bodyPr/>
          <a:lstStyle/>
          <a:p>
            <a:fld id="{A9018E26-E51F-4733-8832-CBD1CCB14E35}" type="slidenum">
              <a:rPr lang="ar-BH" smtClean="0"/>
              <a:t>1</a:t>
            </a:fld>
            <a:endParaRPr lang="ar-BH"/>
          </a:p>
        </p:txBody>
      </p:sp>
    </p:spTree>
    <p:extLst>
      <p:ext uri="{BB962C8B-B14F-4D97-AF65-F5344CB8AC3E}">
        <p14:creationId xmlns:p14="http://schemas.microsoft.com/office/powerpoint/2010/main" val="3048612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BH" dirty="0"/>
          </a:p>
        </p:txBody>
      </p:sp>
      <p:sp>
        <p:nvSpPr>
          <p:cNvPr id="4" name="Slide Number Placeholder 3"/>
          <p:cNvSpPr>
            <a:spLocks noGrp="1"/>
          </p:cNvSpPr>
          <p:nvPr>
            <p:ph type="sldNum" sz="quarter" idx="5"/>
          </p:nvPr>
        </p:nvSpPr>
        <p:spPr/>
        <p:txBody>
          <a:bodyPr/>
          <a:lstStyle/>
          <a:p>
            <a:fld id="{A9018E26-E51F-4733-8832-CBD1CCB14E35}" type="slidenum">
              <a:rPr lang="ar-BH" smtClean="0"/>
              <a:t>13</a:t>
            </a:fld>
            <a:endParaRPr lang="ar-BH"/>
          </a:p>
        </p:txBody>
      </p:sp>
    </p:spTree>
    <p:extLst>
      <p:ext uri="{BB962C8B-B14F-4D97-AF65-F5344CB8AC3E}">
        <p14:creationId xmlns:p14="http://schemas.microsoft.com/office/powerpoint/2010/main" val="2216700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15DDA-1513-5E5E-B93D-0CD1CA973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CC110-6497-5167-EC3C-33E8B22BE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C5112-2331-CF25-6D01-F228D70BAC93}"/>
              </a:ext>
            </a:extLst>
          </p:cNvPr>
          <p:cNvSpPr>
            <a:spLocks noGrp="1"/>
          </p:cNvSpPr>
          <p:nvPr>
            <p:ph type="body" idx="1"/>
          </p:nvPr>
        </p:nvSpPr>
        <p:spPr/>
        <p:txBody>
          <a:bodyPr/>
          <a:lstStyle/>
          <a:p>
            <a:endParaRPr lang="ar-BH" dirty="0"/>
          </a:p>
        </p:txBody>
      </p:sp>
      <p:sp>
        <p:nvSpPr>
          <p:cNvPr id="4" name="Slide Number Placeholder 3">
            <a:extLst>
              <a:ext uri="{FF2B5EF4-FFF2-40B4-BE49-F238E27FC236}">
                <a16:creationId xmlns:a16="http://schemas.microsoft.com/office/drawing/2014/main" id="{9ABC7408-1041-0022-5DA0-3BFB505A8CE0}"/>
              </a:ext>
            </a:extLst>
          </p:cNvPr>
          <p:cNvSpPr>
            <a:spLocks noGrp="1"/>
          </p:cNvSpPr>
          <p:nvPr>
            <p:ph type="sldNum" sz="quarter" idx="5"/>
          </p:nvPr>
        </p:nvSpPr>
        <p:spPr/>
        <p:txBody>
          <a:bodyPr/>
          <a:lstStyle/>
          <a:p>
            <a:fld id="{A9018E26-E51F-4733-8832-CBD1CCB14E35}" type="slidenum">
              <a:rPr lang="ar-BH" smtClean="0"/>
              <a:t>17</a:t>
            </a:fld>
            <a:endParaRPr lang="ar-BH"/>
          </a:p>
        </p:txBody>
      </p:sp>
    </p:spTree>
    <p:extLst>
      <p:ext uri="{BB962C8B-B14F-4D97-AF65-F5344CB8AC3E}">
        <p14:creationId xmlns:p14="http://schemas.microsoft.com/office/powerpoint/2010/main" val="3611510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9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1.svg"/><Relationship Id="rId7"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9.png"/><Relationship Id="rId3" Type="http://schemas.openxmlformats.org/officeDocument/2006/relationships/image" Target="../media/image11.svg"/><Relationship Id="rId7" Type="http://schemas.openxmlformats.org/officeDocument/2006/relationships/customXml" Target="../ink/ink1.xml"/><Relationship Id="rId12"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7.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10" Type="http://schemas.openxmlformats.org/officeDocument/2006/relationships/image" Target="../media/image20.png"/><Relationship Id="rId4" Type="http://schemas.openxmlformats.org/officeDocument/2006/relationships/image" Target="../media/image1.png"/><Relationship Id="rId9" Type="http://schemas.openxmlformats.org/officeDocument/2006/relationships/image" Target="../media/image140.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4" Type="http://schemas.openxmlformats.org/officeDocument/2006/relationships/image" Target="../media/image1.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4" Type="http://schemas.openxmlformats.org/officeDocument/2006/relationships/image" Target="../media/image1.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10" Type="http://schemas.openxmlformats.org/officeDocument/2006/relationships/image" Target="../media/image25.png"/><Relationship Id="rId4" Type="http://schemas.openxmlformats.org/officeDocument/2006/relationships/image" Target="../media/image1.png"/><Relationship Id="rId9" Type="http://schemas.openxmlformats.org/officeDocument/2006/relationships/image" Target="../media/image140.png"/></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7.png"/><Relationship Id="rId5" Type="http://schemas.openxmlformats.org/officeDocument/2006/relationships/image" Target="../media/image12.svg"/><Relationship Id="rId10" Type="http://schemas.openxmlformats.org/officeDocument/2006/relationships/image" Target="../media/image26.png"/><Relationship Id="rId4" Type="http://schemas.openxmlformats.org/officeDocument/2006/relationships/image" Target="../media/image1.png"/><Relationship Id="rId9" Type="http://schemas.openxmlformats.org/officeDocument/2006/relationships/image" Target="../media/image140.png"/></Relationships>
</file>

<file path=ppt/slides/_rels/slide11.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10"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140.png"/></Relationships>
</file>

<file path=ppt/slides/_rels/slide12.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11.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svg"/><Relationship Id="rId10" Type="http://schemas.openxmlformats.org/officeDocument/2006/relationships/image" Target="../media/image29.png"/><Relationship Id="rId4" Type="http://schemas.openxmlformats.org/officeDocument/2006/relationships/image" Target="../media/image1.png"/><Relationship Id="rId9" Type="http://schemas.openxmlformats.org/officeDocument/2006/relationships/image" Target="../media/image140.pn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0.png"/><Relationship Id="rId7" Type="http://schemas.openxmlformats.org/officeDocument/2006/relationships/image" Target="../media/image5.png"/><Relationship Id="rId12"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11" Type="http://schemas.openxmlformats.org/officeDocument/2006/relationships/image" Target="../media/image30.png"/><Relationship Id="rId5" Type="http://schemas.openxmlformats.org/officeDocument/2006/relationships/image" Target="../media/image1.png"/><Relationship Id="rId10" Type="http://schemas.openxmlformats.org/officeDocument/2006/relationships/image" Target="../media/image140.png"/><Relationship Id="rId4" Type="http://schemas.openxmlformats.org/officeDocument/2006/relationships/image" Target="../media/image11.svg"/><Relationship Id="rId9" Type="http://schemas.openxmlformats.org/officeDocument/2006/relationships/customXml" Target="../ink/ink7.xml"/></Relationships>
</file>

<file path=ppt/slides/_rels/slide14.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35.png"/><Relationship Id="rId3" Type="http://schemas.openxmlformats.org/officeDocument/2006/relationships/image" Target="../media/image11.svg"/><Relationship Id="rId7" Type="http://schemas.openxmlformats.org/officeDocument/2006/relationships/image" Target="../media/image6.svg"/><Relationship Id="rId12"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33.png"/><Relationship Id="rId5" Type="http://schemas.openxmlformats.org/officeDocument/2006/relationships/image" Target="../media/image12.svg"/><Relationship Id="rId10" Type="http://schemas.openxmlformats.org/officeDocument/2006/relationships/image" Target="../media/image32.png"/><Relationship Id="rId4" Type="http://schemas.openxmlformats.org/officeDocument/2006/relationships/image" Target="../media/image1.png"/><Relationship Id="rId9" Type="http://schemas.openxmlformats.org/officeDocument/2006/relationships/image" Target="../media/image140.png"/></Relationships>
</file>

<file path=ppt/slides/_rels/slide1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6.svg"/><Relationship Id="rId7"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4.png"/><Relationship Id="rId9" Type="http://schemas.openxmlformats.org/officeDocument/2006/relationships/image" Target="../media/image40.png"/></Relationships>
</file>

<file path=ppt/slides/_rels/slide16.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6.svg"/><Relationship Id="rId7"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600199" y="978858"/>
            <a:ext cx="14426296" cy="4431983"/>
          </a:xfrm>
          <a:prstGeom prst="rect">
            <a:avLst/>
          </a:prstGeom>
        </p:spPr>
        <p:txBody>
          <a:bodyPr wrap="square" lIns="0" tIns="0" rIns="0" bIns="0" rtlCol="0" anchor="t">
            <a:spAutoFit/>
          </a:bodyPr>
          <a:lstStyle/>
          <a:p>
            <a:pPr algn="ctr"/>
            <a:r>
              <a:rPr lang="en-US" sz="9600" dirty="0">
                <a:latin typeface="Open Sans Extra Bold"/>
                <a:ea typeface="Open Sans Extra Bold"/>
                <a:cs typeface="Open Sans Extra Bold"/>
                <a:sym typeface="Open Sans Extra Bold"/>
              </a:rPr>
              <a:t>Logistics Analysis: Performance, Cost &amp; Partner Evaluation</a:t>
            </a:r>
          </a:p>
        </p:txBody>
      </p:sp>
      <p:sp>
        <p:nvSpPr>
          <p:cNvPr id="13" name="Freeform 12">
            <a:extLst>
              <a:ext uri="{FF2B5EF4-FFF2-40B4-BE49-F238E27FC236}">
                <a16:creationId xmlns:a16="http://schemas.microsoft.com/office/drawing/2014/main" id="{4C5057AD-2D85-1B64-416B-5D351130D2EF}"/>
              </a:ext>
            </a:extLst>
          </p:cNvPr>
          <p:cNvSpPr/>
          <p:nvPr/>
        </p:nvSpPr>
        <p:spPr>
          <a:xfrm>
            <a:off x="4419600" y="5829940"/>
            <a:ext cx="752936" cy="1142977"/>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ar-BH" dirty="0"/>
          </a:p>
        </p:txBody>
      </p:sp>
      <p:cxnSp>
        <p:nvCxnSpPr>
          <p:cNvPr id="29" name="Straight Connector 28">
            <a:extLst>
              <a:ext uri="{FF2B5EF4-FFF2-40B4-BE49-F238E27FC236}">
                <a16:creationId xmlns:a16="http://schemas.microsoft.com/office/drawing/2014/main" id="{708AE95D-B5FD-744E-1923-7FF7D5D481C5}"/>
              </a:ext>
            </a:extLst>
          </p:cNvPr>
          <p:cNvCxnSpPr/>
          <p:nvPr/>
        </p:nvCxnSpPr>
        <p:spPr>
          <a:xfrm>
            <a:off x="0" y="538844"/>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9465534-4BB9-E4C3-5B42-9CD3CA5D6C97}"/>
              </a:ext>
            </a:extLst>
          </p:cNvPr>
          <p:cNvCxnSpPr/>
          <p:nvPr/>
        </p:nvCxnSpPr>
        <p:spPr>
          <a:xfrm>
            <a:off x="0" y="9867900"/>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B8C4139-863E-332F-5F5D-7BFD26649BA5}"/>
              </a:ext>
            </a:extLst>
          </p:cNvPr>
          <p:cNvCxnSpPr>
            <a:cxnSpLocks/>
          </p:cNvCxnSpPr>
          <p:nvPr/>
        </p:nvCxnSpPr>
        <p:spPr>
          <a:xfrm>
            <a:off x="698367" y="0"/>
            <a:ext cx="0" cy="1028700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608DD50-F780-5892-12CC-CE3413F361C3}"/>
              </a:ext>
            </a:extLst>
          </p:cNvPr>
          <p:cNvCxnSpPr>
            <a:cxnSpLocks/>
          </p:cNvCxnSpPr>
          <p:nvPr/>
        </p:nvCxnSpPr>
        <p:spPr>
          <a:xfrm>
            <a:off x="17589633" y="0"/>
            <a:ext cx="0" cy="1028700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pic>
        <p:nvPicPr>
          <p:cNvPr id="1026" name="Picture 2" descr="Generated image">
            <a:extLst>
              <a:ext uri="{FF2B5EF4-FFF2-40B4-BE49-F238E27FC236}">
                <a16:creationId xmlns:a16="http://schemas.microsoft.com/office/drawing/2014/main" id="{A1256C36-6E6D-0340-8FCE-F639FFB09E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2" y="5143500"/>
            <a:ext cx="6705599" cy="670559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15">
            <a:extLst>
              <a:ext uri="{FF2B5EF4-FFF2-40B4-BE49-F238E27FC236}">
                <a16:creationId xmlns:a16="http://schemas.microsoft.com/office/drawing/2014/main" id="{D75287D2-E66F-E9B8-8575-15675A0425F5}"/>
              </a:ext>
            </a:extLst>
          </p:cNvPr>
          <p:cNvSpPr txBox="1"/>
          <p:nvPr/>
        </p:nvSpPr>
        <p:spPr>
          <a:xfrm>
            <a:off x="6134101" y="6972917"/>
            <a:ext cx="6019798" cy="1590179"/>
          </a:xfrm>
          <a:prstGeom prst="rect">
            <a:avLst/>
          </a:prstGeom>
        </p:spPr>
        <p:txBody>
          <a:bodyPr wrap="square" lIns="0" tIns="0" rIns="0" bIns="0" rtlCol="0" anchor="t">
            <a:spAutoFit/>
          </a:bodyPr>
          <a:lstStyle/>
          <a:p>
            <a:pPr algn="ctr">
              <a:lnSpc>
                <a:spcPts val="3120"/>
              </a:lnSpc>
            </a:pPr>
            <a:r>
              <a:rPr lang="en-US" sz="2400" b="1" spc="120" dirty="0">
                <a:solidFill>
                  <a:srgbClr val="373737"/>
                </a:solidFill>
                <a:latin typeface="Cairo Bold"/>
                <a:ea typeface="Cairo Bold"/>
                <a:cs typeface="Cairo Bold"/>
                <a:sym typeface="Cairo Bold"/>
              </a:rPr>
              <a:t>Done by : </a:t>
            </a:r>
          </a:p>
          <a:p>
            <a:pPr algn="ctr">
              <a:lnSpc>
                <a:spcPts val="3120"/>
              </a:lnSpc>
            </a:pPr>
            <a:r>
              <a:rPr lang="en-US" sz="2400" spc="120" dirty="0">
                <a:solidFill>
                  <a:srgbClr val="373737"/>
                </a:solidFill>
                <a:latin typeface="Cairo Bold"/>
                <a:ea typeface="Cairo Bold"/>
                <a:cs typeface="Cairo Bold"/>
                <a:sym typeface="Cairo Bold"/>
              </a:rPr>
              <a:t>Fatima Ali  - Mariam Azam -</a:t>
            </a:r>
          </a:p>
          <a:p>
            <a:pPr algn="ctr">
              <a:lnSpc>
                <a:spcPts val="3120"/>
              </a:lnSpc>
            </a:pPr>
            <a:r>
              <a:rPr lang="en-US" sz="2400" spc="120" dirty="0">
                <a:solidFill>
                  <a:srgbClr val="373737"/>
                </a:solidFill>
                <a:latin typeface="Cairo Bold"/>
                <a:ea typeface="Cairo Bold"/>
                <a:cs typeface="Cairo Bold"/>
                <a:sym typeface="Cairo Bold"/>
              </a:rPr>
              <a:t>Zahra </a:t>
            </a:r>
            <a:r>
              <a:rPr lang="en-US" sz="2400" spc="120" dirty="0" err="1">
                <a:solidFill>
                  <a:srgbClr val="373737"/>
                </a:solidFill>
                <a:latin typeface="Cairo Bold"/>
                <a:ea typeface="Cairo Bold"/>
                <a:cs typeface="Cairo Bold"/>
                <a:sym typeface="Cairo Bold"/>
              </a:rPr>
              <a:t>Alrosani</a:t>
            </a:r>
            <a:r>
              <a:rPr lang="en-US" sz="2400" spc="120" dirty="0">
                <a:solidFill>
                  <a:srgbClr val="373737"/>
                </a:solidFill>
                <a:latin typeface="Cairo Bold"/>
                <a:ea typeface="Cairo Bold"/>
                <a:cs typeface="Cairo Bold"/>
                <a:sym typeface="Cairo Bold"/>
              </a:rPr>
              <a:t> - Ayat Mohammed</a:t>
            </a:r>
          </a:p>
          <a:p>
            <a:pPr algn="ctr">
              <a:lnSpc>
                <a:spcPts val="3120"/>
              </a:lnSpc>
            </a:pPr>
            <a:r>
              <a:rPr lang="en-US" sz="2400" spc="120" dirty="0">
                <a:solidFill>
                  <a:srgbClr val="373737"/>
                </a:solidFill>
                <a:latin typeface="Cairo Bold"/>
                <a:ea typeface="Cairo Bold"/>
                <a:cs typeface="Cairo Bold"/>
                <a:sym typeface="Cairo Bold"/>
              </a:rPr>
              <a:t>Group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4F1BB7-ED50-D247-B83D-7723F57D471C}"/>
              </a:ext>
            </a:extLst>
          </p:cNvPr>
          <p:cNvPicPr>
            <a:picLocks noChangeAspect="1"/>
          </p:cNvPicPr>
          <p:nvPr/>
        </p:nvPicPr>
        <p:blipFill>
          <a:blip r:embed="rId2"/>
          <a:stretch>
            <a:fillRect/>
          </a:stretch>
        </p:blipFill>
        <p:spPr>
          <a:xfrm>
            <a:off x="1448771" y="1181100"/>
            <a:ext cx="15693322" cy="8226913"/>
          </a:xfrm>
          <a:prstGeom prst="rect">
            <a:avLst/>
          </a:prstGeom>
        </p:spPr>
      </p:pic>
      <p:sp>
        <p:nvSpPr>
          <p:cNvPr id="63" name="TextBox 62">
            <a:extLst>
              <a:ext uri="{FF2B5EF4-FFF2-40B4-BE49-F238E27FC236}">
                <a16:creationId xmlns:a16="http://schemas.microsoft.com/office/drawing/2014/main" id="{731EA7EF-EBF4-F281-680E-975131850D78}"/>
              </a:ext>
            </a:extLst>
          </p:cNvPr>
          <p:cNvSpPr txBox="1"/>
          <p:nvPr/>
        </p:nvSpPr>
        <p:spPr>
          <a:xfrm>
            <a:off x="6934200" y="5533935"/>
            <a:ext cx="9220200" cy="3046988"/>
          </a:xfrm>
          <a:prstGeom prst="rect">
            <a:avLst/>
          </a:prstGeom>
          <a:noFill/>
        </p:spPr>
        <p:txBody>
          <a:bodyPr wrap="square">
            <a:spAutoFit/>
          </a:bodyPr>
          <a:lstStyle/>
          <a:p>
            <a:pPr algn="ctr"/>
            <a:r>
              <a:rPr lang="en-US" sz="3200" dirty="0">
                <a:solidFill>
                  <a:schemeClr val="bg1"/>
                </a:solidFill>
                <a:latin typeface="Abadi Extra Light" panose="020B0204020104020204" pitchFamily="34" charset="0"/>
              </a:rPr>
              <a:t>The client , a growing e-commerce platform , requested a comprehensive logistics performance analysis to evaluate the efficiency of its current delivery partner. The goal is to identify key factors impacting delivery delays, shipping costs, and fulfillment times, to support renewal decisions and optimize logistics operations statement.</a:t>
            </a:r>
          </a:p>
        </p:txBody>
      </p:sp>
      <p:sp>
        <p:nvSpPr>
          <p:cNvPr id="10" name="AutoShape 5">
            <a:extLst>
              <a:ext uri="{FF2B5EF4-FFF2-40B4-BE49-F238E27FC236}">
                <a16:creationId xmlns:a16="http://schemas.microsoft.com/office/drawing/2014/main" id="{22688B7C-F35C-9424-1227-AB7834A767A6}"/>
              </a:ext>
            </a:extLst>
          </p:cNvPr>
          <p:cNvSpPr/>
          <p:nvPr/>
        </p:nvSpPr>
        <p:spPr>
          <a:xfrm flipV="1">
            <a:off x="1437885" y="5067300"/>
            <a:ext cx="15766615" cy="70757"/>
          </a:xfrm>
          <a:prstGeom prst="line">
            <a:avLst/>
          </a:prstGeom>
          <a:ln w="19050" cap="flat">
            <a:solidFill>
              <a:schemeClr val="bg1"/>
            </a:solidFill>
            <a:prstDash val="solid"/>
            <a:headEnd type="none" w="sm" len="sm"/>
            <a:tailEnd type="none" w="sm" len="sm"/>
          </a:ln>
        </p:spPr>
        <p:txBody>
          <a:bodyPr/>
          <a:lstStyle/>
          <a:p>
            <a:endParaRPr lang="ar-BH"/>
          </a:p>
        </p:txBody>
      </p:sp>
      <p:sp>
        <p:nvSpPr>
          <p:cNvPr id="11" name="TextBox 2">
            <a:extLst>
              <a:ext uri="{FF2B5EF4-FFF2-40B4-BE49-F238E27FC236}">
                <a16:creationId xmlns:a16="http://schemas.microsoft.com/office/drawing/2014/main" id="{6FB10E09-C0C3-89C3-18D1-BADFDA30211D}"/>
              </a:ext>
            </a:extLst>
          </p:cNvPr>
          <p:cNvSpPr txBox="1"/>
          <p:nvPr/>
        </p:nvSpPr>
        <p:spPr>
          <a:xfrm>
            <a:off x="1752600" y="6134100"/>
            <a:ext cx="4648200" cy="1846659"/>
          </a:xfrm>
          <a:prstGeom prst="rect">
            <a:avLst/>
          </a:prstGeom>
        </p:spPr>
        <p:txBody>
          <a:bodyPr wrap="square" lIns="0" tIns="0" rIns="0" bIns="0" rtlCol="0" anchor="t">
            <a:spAutoFit/>
          </a:bodyPr>
          <a:lstStyle/>
          <a:p>
            <a:pPr algn="ctr"/>
            <a:r>
              <a:rPr lang="en-US" sz="6000" dirty="0">
                <a:solidFill>
                  <a:schemeClr val="bg1"/>
                </a:solidFill>
                <a:latin typeface="Open Sans Extra Bold"/>
                <a:ea typeface="Open Sans Extra Bold"/>
                <a:cs typeface="Open Sans Extra Bold"/>
                <a:sym typeface="Open Sans Extra Bold"/>
              </a:rPr>
              <a:t>Problem &amp; Goal</a:t>
            </a:r>
          </a:p>
        </p:txBody>
      </p:sp>
      <p:sp>
        <p:nvSpPr>
          <p:cNvPr id="12" name="TextBox 2">
            <a:extLst>
              <a:ext uri="{FF2B5EF4-FFF2-40B4-BE49-F238E27FC236}">
                <a16:creationId xmlns:a16="http://schemas.microsoft.com/office/drawing/2014/main" id="{A8065FF9-1097-70CE-06E1-A42C26F48C97}"/>
              </a:ext>
            </a:extLst>
          </p:cNvPr>
          <p:cNvSpPr txBox="1"/>
          <p:nvPr/>
        </p:nvSpPr>
        <p:spPr>
          <a:xfrm>
            <a:off x="2381250" y="2328012"/>
            <a:ext cx="3390900" cy="1846659"/>
          </a:xfrm>
          <a:prstGeom prst="rect">
            <a:avLst/>
          </a:prstGeom>
        </p:spPr>
        <p:txBody>
          <a:bodyPr wrap="square" lIns="0" tIns="0" rIns="0" bIns="0" rtlCol="0" anchor="t">
            <a:spAutoFit/>
          </a:bodyPr>
          <a:lstStyle/>
          <a:p>
            <a:pPr algn="ctr"/>
            <a:r>
              <a:rPr lang="en-US" sz="6000" dirty="0">
                <a:solidFill>
                  <a:schemeClr val="bg1"/>
                </a:solidFill>
                <a:latin typeface="Open Sans Extra Bold"/>
                <a:ea typeface="Open Sans Extra Bold"/>
                <a:cs typeface="Open Sans Extra Bold"/>
                <a:sym typeface="Open Sans Extra Bold"/>
              </a:rPr>
              <a:t>About Olist</a:t>
            </a:r>
          </a:p>
        </p:txBody>
      </p:sp>
      <p:sp>
        <p:nvSpPr>
          <p:cNvPr id="13" name="TextBox 12">
            <a:extLst>
              <a:ext uri="{FF2B5EF4-FFF2-40B4-BE49-F238E27FC236}">
                <a16:creationId xmlns:a16="http://schemas.microsoft.com/office/drawing/2014/main" id="{A7E96C13-8466-96EA-A572-6CBE244F79ED}"/>
              </a:ext>
            </a:extLst>
          </p:cNvPr>
          <p:cNvSpPr txBox="1"/>
          <p:nvPr/>
        </p:nvSpPr>
        <p:spPr>
          <a:xfrm>
            <a:off x="7315200" y="2328012"/>
            <a:ext cx="9220200" cy="2062103"/>
          </a:xfrm>
          <a:prstGeom prst="rect">
            <a:avLst/>
          </a:prstGeom>
          <a:noFill/>
        </p:spPr>
        <p:txBody>
          <a:bodyPr wrap="square">
            <a:spAutoFit/>
          </a:bodyPr>
          <a:lstStyle/>
          <a:p>
            <a:pPr algn="ctr"/>
            <a:r>
              <a:rPr lang="en-US" sz="3200" dirty="0">
                <a:solidFill>
                  <a:schemeClr val="bg1"/>
                </a:solidFill>
                <a:latin typeface="Abadi Extra Light" panose="020B0204020104020204" pitchFamily="34" charset="0"/>
              </a:rPr>
              <a:t>Founded in 2015, </a:t>
            </a:r>
            <a:r>
              <a:rPr lang="en-US" sz="3200" dirty="0" err="1">
                <a:solidFill>
                  <a:schemeClr val="bg1"/>
                </a:solidFill>
                <a:latin typeface="Abadi Extra Light" panose="020B0204020104020204" pitchFamily="34" charset="0"/>
              </a:rPr>
              <a:t>Olist</a:t>
            </a:r>
            <a:r>
              <a:rPr lang="en-US" sz="3200" dirty="0">
                <a:solidFill>
                  <a:schemeClr val="bg1"/>
                </a:solidFill>
                <a:latin typeface="Abadi Extra Light" panose="020B0204020104020204" pitchFamily="34" charset="0"/>
              </a:rPr>
              <a:t> is a Brazilian e-commerce platform that empowers businesses of all sizes to succeed in digital commerce by simplifying access to marketplaces and logistics solutions.</a:t>
            </a:r>
          </a:p>
        </p:txBody>
      </p:sp>
      <p:sp>
        <p:nvSpPr>
          <p:cNvPr id="14" name="Freeform 10">
            <a:extLst>
              <a:ext uri="{FF2B5EF4-FFF2-40B4-BE49-F238E27FC236}">
                <a16:creationId xmlns:a16="http://schemas.microsoft.com/office/drawing/2014/main" id="{B883FB56-0FEE-A631-3A6E-9403EE696F81}"/>
              </a:ext>
            </a:extLst>
          </p:cNvPr>
          <p:cNvSpPr/>
          <p:nvPr/>
        </p:nvSpPr>
        <p:spPr>
          <a:xfrm rot="6485479">
            <a:off x="-110358" y="-581584"/>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ar-BH"/>
          </a:p>
        </p:txBody>
      </p:sp>
      <p:sp>
        <p:nvSpPr>
          <p:cNvPr id="15" name="Freeform 10">
            <a:extLst>
              <a:ext uri="{FF2B5EF4-FFF2-40B4-BE49-F238E27FC236}">
                <a16:creationId xmlns:a16="http://schemas.microsoft.com/office/drawing/2014/main" id="{0E8B209F-9AEB-8A38-9BFA-594B5F6EC4C5}"/>
              </a:ext>
            </a:extLst>
          </p:cNvPr>
          <p:cNvSpPr/>
          <p:nvPr/>
        </p:nvSpPr>
        <p:spPr>
          <a:xfrm rot="16515795">
            <a:off x="15127018" y="8029085"/>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ar-B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24100" y="826000"/>
            <a:ext cx="13639800" cy="1237390"/>
          </a:xfrm>
          <a:prstGeom prst="rect">
            <a:avLst/>
          </a:prstGeom>
        </p:spPr>
        <p:txBody>
          <a:bodyPr wrap="square" lIns="0" tIns="0" rIns="0" bIns="0" rtlCol="0" anchor="t">
            <a:spAutoFit/>
          </a:bodyPr>
          <a:lstStyle/>
          <a:p>
            <a:pPr algn="ctr">
              <a:lnSpc>
                <a:spcPts val="10800"/>
              </a:lnSpc>
            </a:pPr>
            <a:r>
              <a:rPr lang="en-US" sz="6000" dirty="0">
                <a:solidFill>
                  <a:srgbClr val="373737"/>
                </a:solidFill>
                <a:latin typeface="Open Sans Extra Bold"/>
                <a:ea typeface="Open Sans Extra Bold"/>
                <a:cs typeface="Open Sans Extra Bold"/>
                <a:sym typeface="Open Sans Extra Bold"/>
              </a:rPr>
              <a:t>Logistic Performance Overview </a:t>
            </a:r>
          </a:p>
        </p:txBody>
      </p:sp>
      <p:sp>
        <p:nvSpPr>
          <p:cNvPr id="15" name="Freeform 4">
            <a:extLst>
              <a:ext uri="{FF2B5EF4-FFF2-40B4-BE49-F238E27FC236}">
                <a16:creationId xmlns:a16="http://schemas.microsoft.com/office/drawing/2014/main" id="{888B6305-EAD5-4AA8-743F-A31A24593C68}"/>
              </a:ext>
            </a:extLst>
          </p:cNvPr>
          <p:cNvSpPr/>
          <p:nvPr/>
        </p:nvSpPr>
        <p:spPr>
          <a:xfrm>
            <a:off x="6491882" y="2557359"/>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ar-BH"/>
          </a:p>
        </p:txBody>
      </p:sp>
      <p:sp>
        <p:nvSpPr>
          <p:cNvPr id="16" name="Freeform 5">
            <a:extLst>
              <a:ext uri="{FF2B5EF4-FFF2-40B4-BE49-F238E27FC236}">
                <a16:creationId xmlns:a16="http://schemas.microsoft.com/office/drawing/2014/main" id="{E89F015F-576E-BB47-118F-70004BAA48A7}"/>
              </a:ext>
            </a:extLst>
          </p:cNvPr>
          <p:cNvSpPr/>
          <p:nvPr/>
        </p:nvSpPr>
        <p:spPr>
          <a:xfrm>
            <a:off x="6491882" y="6072454"/>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ar-BH"/>
          </a:p>
        </p:txBody>
      </p:sp>
      <p:sp>
        <p:nvSpPr>
          <p:cNvPr id="21" name="Freeform 6">
            <a:extLst>
              <a:ext uri="{FF2B5EF4-FFF2-40B4-BE49-F238E27FC236}">
                <a16:creationId xmlns:a16="http://schemas.microsoft.com/office/drawing/2014/main" id="{EE270F01-BF1B-F8D3-138C-AEC4667785D5}"/>
              </a:ext>
            </a:extLst>
          </p:cNvPr>
          <p:cNvSpPr/>
          <p:nvPr/>
        </p:nvSpPr>
        <p:spPr>
          <a:xfrm>
            <a:off x="11943741" y="2562190"/>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ar-BH"/>
          </a:p>
        </p:txBody>
      </p:sp>
      <p:sp>
        <p:nvSpPr>
          <p:cNvPr id="29" name="Freeform 7">
            <a:extLst>
              <a:ext uri="{FF2B5EF4-FFF2-40B4-BE49-F238E27FC236}">
                <a16:creationId xmlns:a16="http://schemas.microsoft.com/office/drawing/2014/main" id="{15565E03-E02B-B1B2-2EAB-41363EADB855}"/>
              </a:ext>
            </a:extLst>
          </p:cNvPr>
          <p:cNvSpPr/>
          <p:nvPr/>
        </p:nvSpPr>
        <p:spPr>
          <a:xfrm>
            <a:off x="11992727" y="6083340"/>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ar-BH"/>
          </a:p>
        </p:txBody>
      </p:sp>
      <p:sp>
        <p:nvSpPr>
          <p:cNvPr id="30" name="Freeform 8">
            <a:extLst>
              <a:ext uri="{FF2B5EF4-FFF2-40B4-BE49-F238E27FC236}">
                <a16:creationId xmlns:a16="http://schemas.microsoft.com/office/drawing/2014/main" id="{8233E371-EA93-FDD3-D641-C40673941DC8}"/>
              </a:ext>
            </a:extLst>
          </p:cNvPr>
          <p:cNvSpPr/>
          <p:nvPr/>
        </p:nvSpPr>
        <p:spPr>
          <a:xfrm>
            <a:off x="1040023" y="2519744"/>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ar-BH" dirty="0"/>
          </a:p>
        </p:txBody>
      </p:sp>
      <p:sp>
        <p:nvSpPr>
          <p:cNvPr id="31" name="Freeform 9">
            <a:extLst>
              <a:ext uri="{FF2B5EF4-FFF2-40B4-BE49-F238E27FC236}">
                <a16:creationId xmlns:a16="http://schemas.microsoft.com/office/drawing/2014/main" id="{298B8003-942E-DB11-72CF-C812A352728B}"/>
              </a:ext>
            </a:extLst>
          </p:cNvPr>
          <p:cNvSpPr/>
          <p:nvPr/>
        </p:nvSpPr>
        <p:spPr>
          <a:xfrm>
            <a:off x="1040023" y="6072454"/>
            <a:ext cx="4513346" cy="3044457"/>
          </a:xfrm>
          <a:custGeom>
            <a:avLst/>
            <a:gdLst/>
            <a:ahLst/>
            <a:cxnLst/>
            <a:rect l="l" t="t" r="r" b="b"/>
            <a:pathLst>
              <a:path w="4513346" h="3044457">
                <a:moveTo>
                  <a:pt x="0" y="0"/>
                </a:moveTo>
                <a:lnTo>
                  <a:pt x="4513347" y="0"/>
                </a:lnTo>
                <a:lnTo>
                  <a:pt x="4513347" y="3044457"/>
                </a:lnTo>
                <a:lnTo>
                  <a:pt x="0" y="304445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ar-BH"/>
          </a:p>
        </p:txBody>
      </p:sp>
      <p:cxnSp>
        <p:nvCxnSpPr>
          <p:cNvPr id="35" name="Straight Connector 34">
            <a:extLst>
              <a:ext uri="{FF2B5EF4-FFF2-40B4-BE49-F238E27FC236}">
                <a16:creationId xmlns:a16="http://schemas.microsoft.com/office/drawing/2014/main" id="{E4C680AB-87C9-89D5-AB23-2F20D894BDE7}"/>
              </a:ext>
            </a:extLst>
          </p:cNvPr>
          <p:cNvCxnSpPr/>
          <p:nvPr/>
        </p:nvCxnSpPr>
        <p:spPr>
          <a:xfrm>
            <a:off x="0" y="611936"/>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0E6FBCA-12FC-84EA-C4F5-6F326756D32F}"/>
              </a:ext>
            </a:extLst>
          </p:cNvPr>
          <p:cNvCxnSpPr/>
          <p:nvPr/>
        </p:nvCxnSpPr>
        <p:spPr>
          <a:xfrm>
            <a:off x="0" y="9486900"/>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02808B2-DADA-B239-0AC9-E9C0EA3F2FB3}"/>
              </a:ext>
            </a:extLst>
          </p:cNvPr>
          <p:cNvSpPr txBox="1"/>
          <p:nvPr/>
        </p:nvSpPr>
        <p:spPr>
          <a:xfrm>
            <a:off x="2352663" y="4264397"/>
            <a:ext cx="1710725"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98.67 K</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50" name="TextBox 49">
            <a:extLst>
              <a:ext uri="{FF2B5EF4-FFF2-40B4-BE49-F238E27FC236}">
                <a16:creationId xmlns:a16="http://schemas.microsoft.com/office/drawing/2014/main" id="{9F03D428-2154-0B71-C478-69DC38231331}"/>
              </a:ext>
            </a:extLst>
          </p:cNvPr>
          <p:cNvSpPr txBox="1"/>
          <p:nvPr/>
        </p:nvSpPr>
        <p:spPr>
          <a:xfrm>
            <a:off x="5706177" y="3111363"/>
            <a:ext cx="6084756" cy="830997"/>
          </a:xfrm>
          <a:prstGeom prst="rect">
            <a:avLst/>
          </a:prstGeom>
          <a:noFill/>
        </p:spPr>
        <p:txBody>
          <a:bodyPr wrap="square" rtlCol="1">
            <a:spAutoFit/>
          </a:bodyPr>
          <a:lstStyle/>
          <a:p>
            <a:pPr algn="ctr"/>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Total Number of Delivered </a:t>
            </a:r>
          </a:p>
          <a:p>
            <a:pPr algn="ctr"/>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Orders</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53" name="TextBox 52">
            <a:extLst>
              <a:ext uri="{FF2B5EF4-FFF2-40B4-BE49-F238E27FC236}">
                <a16:creationId xmlns:a16="http://schemas.microsoft.com/office/drawing/2014/main" id="{77AABD91-0BBF-6F59-9DB4-415D94000DE0}"/>
              </a:ext>
            </a:extLst>
          </p:cNvPr>
          <p:cNvSpPr txBox="1"/>
          <p:nvPr/>
        </p:nvSpPr>
        <p:spPr>
          <a:xfrm>
            <a:off x="12806537" y="3111363"/>
            <a:ext cx="2885726" cy="461665"/>
          </a:xfrm>
          <a:prstGeom prst="rect">
            <a:avLst/>
          </a:prstGeom>
          <a:noFill/>
        </p:spPr>
        <p:txBody>
          <a:bodyPr wrap="none" rtlCol="1">
            <a:spAutoFit/>
          </a:bodyPr>
          <a:lstStyle/>
          <a:p>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Late Delivery Orders</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56" name="TextBox 55">
            <a:extLst>
              <a:ext uri="{FF2B5EF4-FFF2-40B4-BE49-F238E27FC236}">
                <a16:creationId xmlns:a16="http://schemas.microsoft.com/office/drawing/2014/main" id="{63F4CEB1-7E6F-2F26-6758-205AC1A22EB5}"/>
              </a:ext>
            </a:extLst>
          </p:cNvPr>
          <p:cNvSpPr txBox="1"/>
          <p:nvPr/>
        </p:nvSpPr>
        <p:spPr>
          <a:xfrm>
            <a:off x="1828192" y="6674959"/>
            <a:ext cx="3877985" cy="461665"/>
          </a:xfrm>
          <a:prstGeom prst="rect">
            <a:avLst/>
          </a:prstGeom>
          <a:noFill/>
        </p:spPr>
        <p:txBody>
          <a:bodyPr wrap="none" rtlCol="1">
            <a:spAutoFit/>
          </a:bodyPr>
          <a:lstStyle/>
          <a:p>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Early Delivery Orders	</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61" name="TextBox 60">
            <a:extLst>
              <a:ext uri="{FF2B5EF4-FFF2-40B4-BE49-F238E27FC236}">
                <a16:creationId xmlns:a16="http://schemas.microsoft.com/office/drawing/2014/main" id="{8FA40988-4CC4-B07A-A313-13411537FCD6}"/>
              </a:ext>
            </a:extLst>
          </p:cNvPr>
          <p:cNvSpPr txBox="1"/>
          <p:nvPr/>
        </p:nvSpPr>
        <p:spPr>
          <a:xfrm>
            <a:off x="7127243" y="6731655"/>
            <a:ext cx="3877985" cy="461665"/>
          </a:xfrm>
          <a:prstGeom prst="rect">
            <a:avLst/>
          </a:prstGeom>
          <a:noFill/>
        </p:spPr>
        <p:txBody>
          <a:bodyPr wrap="none" rtlCol="1">
            <a:spAutoFit/>
          </a:bodyPr>
          <a:lstStyle/>
          <a:p>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On Time Delivery Orders	</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24" name="TextBox 1023">
            <a:extLst>
              <a:ext uri="{FF2B5EF4-FFF2-40B4-BE49-F238E27FC236}">
                <a16:creationId xmlns:a16="http://schemas.microsoft.com/office/drawing/2014/main" id="{A9887566-A5A3-3F9E-280D-19B5BBA88B12}"/>
              </a:ext>
            </a:extLst>
          </p:cNvPr>
          <p:cNvSpPr txBox="1"/>
          <p:nvPr/>
        </p:nvSpPr>
        <p:spPr>
          <a:xfrm>
            <a:off x="12145535" y="6760885"/>
            <a:ext cx="4801314" cy="461665"/>
          </a:xfrm>
          <a:prstGeom prst="rect">
            <a:avLst/>
          </a:prstGeom>
          <a:noFill/>
        </p:spPr>
        <p:txBody>
          <a:bodyPr wrap="none" rtlCol="1">
            <a:spAutoFit/>
          </a:bodyPr>
          <a:lstStyle/>
          <a:p>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Average Days to Deliver Order	</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25" name="TextBox 1024">
            <a:extLst>
              <a:ext uri="{FF2B5EF4-FFF2-40B4-BE49-F238E27FC236}">
                <a16:creationId xmlns:a16="http://schemas.microsoft.com/office/drawing/2014/main" id="{DF2FAEA0-E819-06A4-983B-D04589A37B5A}"/>
              </a:ext>
            </a:extLst>
          </p:cNvPr>
          <p:cNvSpPr txBox="1"/>
          <p:nvPr/>
        </p:nvSpPr>
        <p:spPr>
          <a:xfrm>
            <a:off x="1790629" y="3410972"/>
            <a:ext cx="3316934" cy="461665"/>
          </a:xfrm>
          <a:prstGeom prst="rect">
            <a:avLst/>
          </a:prstGeom>
          <a:noFill/>
        </p:spPr>
        <p:txBody>
          <a:bodyPr wrap="none" rtlCol="1">
            <a:spAutoFit/>
          </a:bodyPr>
          <a:lstStyle/>
          <a:p>
            <a:r>
              <a:rPr lang="en-US" sz="2400" b="1" dirty="0">
                <a:solidFill>
                  <a:schemeClr val="bg1"/>
                </a:solidFill>
                <a:latin typeface="Cairo Bold" panose="020B0604020202020204" charset="-78"/>
                <a:ea typeface="ADLaM Display" panose="02010000000000000000" pitchFamily="2" charset="0"/>
                <a:cs typeface="Cairo Bold" panose="020B0604020202020204" charset="-78"/>
              </a:rPr>
              <a:t>Total Number of Orders</a:t>
            </a:r>
            <a:endParaRPr lang="ar-BH" sz="24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26" name="TextBox 1025">
            <a:extLst>
              <a:ext uri="{FF2B5EF4-FFF2-40B4-BE49-F238E27FC236}">
                <a16:creationId xmlns:a16="http://schemas.microsoft.com/office/drawing/2014/main" id="{9CBF4731-90D5-F313-5D77-944FFBDE4899}"/>
              </a:ext>
            </a:extLst>
          </p:cNvPr>
          <p:cNvSpPr txBox="1"/>
          <p:nvPr/>
        </p:nvSpPr>
        <p:spPr>
          <a:xfrm>
            <a:off x="7857328" y="4301463"/>
            <a:ext cx="1710725"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96.48 K</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27" name="TextBox 1026">
            <a:extLst>
              <a:ext uri="{FF2B5EF4-FFF2-40B4-BE49-F238E27FC236}">
                <a16:creationId xmlns:a16="http://schemas.microsoft.com/office/drawing/2014/main" id="{876DDFFC-803D-912B-7673-49D1DC8C92D0}"/>
              </a:ext>
            </a:extLst>
          </p:cNvPr>
          <p:cNvSpPr txBox="1"/>
          <p:nvPr/>
        </p:nvSpPr>
        <p:spPr>
          <a:xfrm>
            <a:off x="13591914" y="4301462"/>
            <a:ext cx="1217000"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6535</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29" name="TextBox 1028">
            <a:extLst>
              <a:ext uri="{FF2B5EF4-FFF2-40B4-BE49-F238E27FC236}">
                <a16:creationId xmlns:a16="http://schemas.microsoft.com/office/drawing/2014/main" id="{BF118C67-67AA-4A66-2250-59B46FD8B56B}"/>
              </a:ext>
            </a:extLst>
          </p:cNvPr>
          <p:cNvSpPr txBox="1"/>
          <p:nvPr/>
        </p:nvSpPr>
        <p:spPr>
          <a:xfrm>
            <a:off x="2403157" y="7665430"/>
            <a:ext cx="1710725"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88.61 K</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30" name="TextBox 1029">
            <a:extLst>
              <a:ext uri="{FF2B5EF4-FFF2-40B4-BE49-F238E27FC236}">
                <a16:creationId xmlns:a16="http://schemas.microsoft.com/office/drawing/2014/main" id="{21E3A0AE-7996-907A-CAD6-341D72FC3472}"/>
              </a:ext>
            </a:extLst>
          </p:cNvPr>
          <p:cNvSpPr txBox="1"/>
          <p:nvPr/>
        </p:nvSpPr>
        <p:spPr>
          <a:xfrm>
            <a:off x="8104190" y="7663958"/>
            <a:ext cx="1217000"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1292</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
        <p:nvSpPr>
          <p:cNvPr id="1031" name="TextBox 1030">
            <a:extLst>
              <a:ext uri="{FF2B5EF4-FFF2-40B4-BE49-F238E27FC236}">
                <a16:creationId xmlns:a16="http://schemas.microsoft.com/office/drawing/2014/main" id="{5EB95976-5C1B-32C6-7AFF-77A49C1A2E5C}"/>
              </a:ext>
            </a:extLst>
          </p:cNvPr>
          <p:cNvSpPr txBox="1"/>
          <p:nvPr/>
        </p:nvSpPr>
        <p:spPr>
          <a:xfrm>
            <a:off x="13575585" y="7708393"/>
            <a:ext cx="1335622" cy="646331"/>
          </a:xfrm>
          <a:prstGeom prst="rect">
            <a:avLst/>
          </a:prstGeom>
          <a:noFill/>
        </p:spPr>
        <p:txBody>
          <a:bodyPr wrap="none" rtlCol="1">
            <a:spAutoFit/>
          </a:bodyPr>
          <a:lstStyle/>
          <a:p>
            <a:r>
              <a:rPr lang="en-US" sz="3600" b="1" dirty="0">
                <a:solidFill>
                  <a:schemeClr val="bg1"/>
                </a:solidFill>
                <a:latin typeface="Cairo Bold" panose="020B0604020202020204" charset="-78"/>
                <a:ea typeface="ADLaM Display" panose="02010000000000000000" pitchFamily="2" charset="0"/>
                <a:cs typeface="Cairo Bold" panose="020B0604020202020204" charset="-78"/>
              </a:rPr>
              <a:t>12.41</a:t>
            </a:r>
            <a:endParaRPr lang="ar-BH" sz="3600" b="1" dirty="0">
              <a:solidFill>
                <a:schemeClr val="bg1"/>
              </a:solidFill>
              <a:latin typeface="Cairo Bold" panose="020B0604020202020204" charset="-78"/>
              <a:ea typeface="ADLaM Display" panose="02010000000000000000" pitchFamily="2" charset="0"/>
              <a:cs typeface="Cairo Bold" panose="020B0604020202020204"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18">
            <a:extLst>
              <a:ext uri="{FF2B5EF4-FFF2-40B4-BE49-F238E27FC236}">
                <a16:creationId xmlns:a16="http://schemas.microsoft.com/office/drawing/2014/main" id="{3B414DAF-E19D-0B7B-9A05-82AAC75F057A}"/>
              </a:ext>
            </a:extLst>
          </p:cNvPr>
          <p:cNvSpPr/>
          <p:nvPr/>
        </p:nvSpPr>
        <p:spPr>
          <a:xfrm rot="6922011">
            <a:off x="10951880" y="5520250"/>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44DC4CD4-7E29-F6D1-F09F-4543C71FF119}"/>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38CBC9B7-7BA6-E442-0B22-9AF87589C466}"/>
              </a:ext>
            </a:extLst>
          </p:cNvPr>
          <p:cNvSpPr/>
          <p:nvPr/>
        </p:nvSpPr>
        <p:spPr>
          <a:xfrm rot="1348423">
            <a:off x="16093726" y="760931"/>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a:p>
        </p:txBody>
      </p:sp>
      <p:sp>
        <p:nvSpPr>
          <p:cNvPr id="14" name="TextBox 38">
            <a:extLst>
              <a:ext uri="{FF2B5EF4-FFF2-40B4-BE49-F238E27FC236}">
                <a16:creationId xmlns:a16="http://schemas.microsoft.com/office/drawing/2014/main" id="{D9138733-53D8-A46C-ED95-AA6B6D7D3668}"/>
              </a:ext>
            </a:extLst>
          </p:cNvPr>
          <p:cNvSpPr txBox="1"/>
          <p:nvPr/>
        </p:nvSpPr>
        <p:spPr>
          <a:xfrm>
            <a:off x="831065" y="613128"/>
            <a:ext cx="16625869"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Delivery Timeliness Overview</a:t>
            </a:r>
          </a:p>
        </p:txBody>
      </p:sp>
      <p:cxnSp>
        <p:nvCxnSpPr>
          <p:cNvPr id="15" name="Straight Connector 14">
            <a:extLst>
              <a:ext uri="{FF2B5EF4-FFF2-40B4-BE49-F238E27FC236}">
                <a16:creationId xmlns:a16="http://schemas.microsoft.com/office/drawing/2014/main" id="{F8BD1321-7BB3-6E9A-BFD8-07E1BAC8E516}"/>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4F9A962B-D353-AA92-8CCD-3FB52FA40BDF}"/>
              </a:ext>
            </a:extLst>
          </p:cNvPr>
          <p:cNvPicPr>
            <a:picLocks noChangeAspect="1"/>
          </p:cNvPicPr>
          <p:nvPr/>
        </p:nvPicPr>
        <p:blipFill>
          <a:blip r:embed="rId6"/>
          <a:srcRect l="13079" t="9648" r="38375"/>
          <a:stretch>
            <a:fillRect/>
          </a:stretch>
        </p:blipFill>
        <p:spPr>
          <a:xfrm>
            <a:off x="5722134" y="2781300"/>
            <a:ext cx="5326866" cy="6065576"/>
          </a:xfrm>
          <a:prstGeom prst="rect">
            <a:avLst/>
          </a:prstGeom>
          <a:ln>
            <a:solidFill>
              <a:schemeClr val="tx1"/>
            </a:solidFill>
          </a:ln>
        </p:spPr>
      </p:pic>
      <p:pic>
        <p:nvPicPr>
          <p:cNvPr id="28" name="Picture 27">
            <a:extLst>
              <a:ext uri="{FF2B5EF4-FFF2-40B4-BE49-F238E27FC236}">
                <a16:creationId xmlns:a16="http://schemas.microsoft.com/office/drawing/2014/main" id="{78233D03-3B69-CE70-0A0C-E70EEC49DBEA}"/>
              </a:ext>
            </a:extLst>
          </p:cNvPr>
          <p:cNvPicPr>
            <a:picLocks noChangeAspect="1"/>
          </p:cNvPicPr>
          <p:nvPr/>
        </p:nvPicPr>
        <p:blipFill>
          <a:blip r:embed="rId6"/>
          <a:srcRect l="73625" t="42645" b="28625"/>
          <a:stretch>
            <a:fillRect/>
          </a:stretch>
        </p:blipFill>
        <p:spPr>
          <a:xfrm>
            <a:off x="11298583" y="6667500"/>
            <a:ext cx="2881623" cy="1920501"/>
          </a:xfrm>
          <a:prstGeom prst="rect">
            <a:avLst/>
          </a:prstGeom>
          <a:ln>
            <a:solidFill>
              <a:schemeClr val="tx1"/>
            </a:solidFill>
          </a:ln>
        </p:spPr>
      </p:pic>
      <p:pic>
        <p:nvPicPr>
          <p:cNvPr id="31" name="Picture 30">
            <a:extLst>
              <a:ext uri="{FF2B5EF4-FFF2-40B4-BE49-F238E27FC236}">
                <a16:creationId xmlns:a16="http://schemas.microsoft.com/office/drawing/2014/main" id="{129853C7-FAE5-FD49-205E-EA9A64C7E656}"/>
              </a:ext>
            </a:extLst>
          </p:cNvPr>
          <p:cNvPicPr>
            <a:picLocks noChangeAspect="1"/>
          </p:cNvPicPr>
          <p:nvPr/>
        </p:nvPicPr>
        <p:blipFill>
          <a:blip r:embed="rId6"/>
          <a:srcRect l="24125" t="1702" r="33514" b="90070"/>
          <a:stretch>
            <a:fillRect/>
          </a:stretch>
        </p:blipFill>
        <p:spPr>
          <a:xfrm>
            <a:off x="4343400" y="2400300"/>
            <a:ext cx="4648200" cy="552404"/>
          </a:xfrm>
          <a:prstGeom prst="rect">
            <a:avLst/>
          </a:prstGeom>
          <a:ln>
            <a:solidFill>
              <a:schemeClr val="tx1"/>
            </a:solidFill>
          </a:ln>
        </p:spPr>
      </p:pic>
      <p:cxnSp>
        <p:nvCxnSpPr>
          <p:cNvPr id="33" name="Straight Connector 32">
            <a:extLst>
              <a:ext uri="{FF2B5EF4-FFF2-40B4-BE49-F238E27FC236}">
                <a16:creationId xmlns:a16="http://schemas.microsoft.com/office/drawing/2014/main" id="{F53200D8-7564-3AAA-4D6C-EA90EF037D10}"/>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583BE29-CF6C-422D-2412-4561EB068455}"/>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8232887A-EEDA-5A23-1895-7D297056592A}"/>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AF2CEBA5-0B08-FDC6-97DF-695A44E97476}"/>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BH"/>
          </a:p>
        </p:txBody>
      </p:sp>
    </p:spTree>
    <p:extLst>
      <p:ext uri="{BB962C8B-B14F-4D97-AF65-F5344CB8AC3E}">
        <p14:creationId xmlns:p14="http://schemas.microsoft.com/office/powerpoint/2010/main" val="224447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551CC-18A4-26F4-CF98-BA4EB3790308}"/>
            </a:ext>
          </a:extLst>
        </p:cNvPr>
        <p:cNvGrpSpPr/>
        <p:nvPr/>
      </p:nvGrpSpPr>
      <p:grpSpPr>
        <a:xfrm>
          <a:off x="0" y="0"/>
          <a:ext cx="0" cy="0"/>
          <a:chOff x="0" y="0"/>
          <a:chExt cx="0" cy="0"/>
        </a:xfrm>
      </p:grpSpPr>
      <p:sp>
        <p:nvSpPr>
          <p:cNvPr id="19" name="Freeform 18">
            <a:extLst>
              <a:ext uri="{FF2B5EF4-FFF2-40B4-BE49-F238E27FC236}">
                <a16:creationId xmlns:a16="http://schemas.microsoft.com/office/drawing/2014/main" id="{1DDCC4FF-62D0-DCAC-C25A-499DE1BA46A1}"/>
              </a:ext>
            </a:extLst>
          </p:cNvPr>
          <p:cNvSpPr/>
          <p:nvPr/>
        </p:nvSpPr>
        <p:spPr>
          <a:xfrm rot="11850708">
            <a:off x="14812770" y="2009800"/>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pic>
        <p:nvPicPr>
          <p:cNvPr id="22" name="Picture 21">
            <a:extLst>
              <a:ext uri="{FF2B5EF4-FFF2-40B4-BE49-F238E27FC236}">
                <a16:creationId xmlns:a16="http://schemas.microsoft.com/office/drawing/2014/main" id="{3B24F5CC-DBF5-9B9C-E944-04BA7C21FC44}"/>
              </a:ext>
            </a:extLst>
          </p:cNvPr>
          <p:cNvPicPr>
            <a:picLocks noChangeAspect="1"/>
          </p:cNvPicPr>
          <p:nvPr/>
        </p:nvPicPr>
        <p:blipFill>
          <a:blip r:embed="rId4"/>
          <a:srcRect t="12077" r="40064" b="12227"/>
          <a:stretch>
            <a:fillRect/>
          </a:stretch>
        </p:blipFill>
        <p:spPr>
          <a:xfrm>
            <a:off x="9423575" y="2468013"/>
            <a:ext cx="5461845" cy="4658248"/>
          </a:xfrm>
          <a:prstGeom prst="rect">
            <a:avLst/>
          </a:prstGeom>
          <a:ln>
            <a:solidFill>
              <a:schemeClr val="tx1"/>
            </a:solidFill>
          </a:ln>
        </p:spPr>
      </p:pic>
      <p:cxnSp>
        <p:nvCxnSpPr>
          <p:cNvPr id="5" name="Straight Connector 4">
            <a:extLst>
              <a:ext uri="{FF2B5EF4-FFF2-40B4-BE49-F238E27FC236}">
                <a16:creationId xmlns:a16="http://schemas.microsoft.com/office/drawing/2014/main" id="{AC75B7FB-A7F2-B465-11EA-BF54129D4620}"/>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1D60B03-37BB-1796-63D5-A7CDD24E5354}"/>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39C7DB9-FFCF-3B1F-1104-A19350071C33}"/>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B40C67-F84E-34F3-EB85-9D343485CBB5}"/>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075B2533-3A15-C993-A98B-7F04DC60E726}"/>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12452C10-FBF1-5708-34FC-01BE4D674B9B}"/>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6B19960B-C2B4-EA96-47EE-FAEEC1213F47}"/>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6B19960B-C2B4-EA96-47EE-FAEEC1213F47}"/>
                  </a:ext>
                </a:extLst>
              </p:cNvPr>
              <p:cNvPicPr/>
              <p:nvPr/>
            </p:nvPicPr>
            <p:blipFill>
              <a:blip r:embed="rId8"/>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C052F8EF-545C-9AA8-82C5-FB9D14E557C5}"/>
              </a:ext>
            </a:extLst>
          </p:cNvPr>
          <p:cNvSpPr txBox="1"/>
          <p:nvPr/>
        </p:nvSpPr>
        <p:spPr>
          <a:xfrm>
            <a:off x="-228600" y="417749"/>
            <a:ext cx="19191537"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Impact of Seller-Customer Location on Delivery Performance</a:t>
            </a:r>
          </a:p>
        </p:txBody>
      </p:sp>
      <p:pic>
        <p:nvPicPr>
          <p:cNvPr id="18" name="Picture 17">
            <a:extLst>
              <a:ext uri="{FF2B5EF4-FFF2-40B4-BE49-F238E27FC236}">
                <a16:creationId xmlns:a16="http://schemas.microsoft.com/office/drawing/2014/main" id="{CA941E5D-136E-5090-6F7F-5D014829338C}"/>
              </a:ext>
            </a:extLst>
          </p:cNvPr>
          <p:cNvPicPr>
            <a:picLocks noChangeAspect="1"/>
          </p:cNvPicPr>
          <p:nvPr/>
        </p:nvPicPr>
        <p:blipFill>
          <a:blip r:embed="rId9"/>
          <a:srcRect l="62901" t="54979" b="24588"/>
          <a:stretch>
            <a:fillRect/>
          </a:stretch>
        </p:blipFill>
        <p:spPr>
          <a:xfrm>
            <a:off x="9906000" y="6734896"/>
            <a:ext cx="2454842" cy="1056138"/>
          </a:xfrm>
          <a:prstGeom prst="rect">
            <a:avLst/>
          </a:prstGeom>
          <a:ln>
            <a:solidFill>
              <a:schemeClr val="tx1"/>
            </a:solidFill>
          </a:ln>
        </p:spPr>
      </p:pic>
      <p:pic>
        <p:nvPicPr>
          <p:cNvPr id="31" name="Picture 30">
            <a:extLst>
              <a:ext uri="{FF2B5EF4-FFF2-40B4-BE49-F238E27FC236}">
                <a16:creationId xmlns:a16="http://schemas.microsoft.com/office/drawing/2014/main" id="{71E4CE0F-8249-2E47-CF01-4355A5DC630C}"/>
              </a:ext>
            </a:extLst>
          </p:cNvPr>
          <p:cNvPicPr>
            <a:picLocks noChangeAspect="1"/>
          </p:cNvPicPr>
          <p:nvPr/>
        </p:nvPicPr>
        <p:blipFill>
          <a:blip r:embed="rId10"/>
          <a:srcRect t="15750" b="-1979"/>
          <a:stretch>
            <a:fillRect/>
          </a:stretch>
        </p:blipFill>
        <p:spPr>
          <a:xfrm>
            <a:off x="1652148" y="2366691"/>
            <a:ext cx="7512989" cy="3938571"/>
          </a:xfrm>
          <a:prstGeom prst="rect">
            <a:avLst/>
          </a:prstGeom>
          <a:ln>
            <a:solidFill>
              <a:schemeClr val="tx1"/>
            </a:solidFill>
          </a:ln>
        </p:spPr>
      </p:pic>
      <p:pic>
        <p:nvPicPr>
          <p:cNvPr id="34" name="Picture 33">
            <a:extLst>
              <a:ext uri="{FF2B5EF4-FFF2-40B4-BE49-F238E27FC236}">
                <a16:creationId xmlns:a16="http://schemas.microsoft.com/office/drawing/2014/main" id="{1461B681-08C6-76C2-FF4F-91D5F3A2DD58}"/>
              </a:ext>
            </a:extLst>
          </p:cNvPr>
          <p:cNvPicPr>
            <a:picLocks noChangeAspect="1"/>
          </p:cNvPicPr>
          <p:nvPr/>
        </p:nvPicPr>
        <p:blipFill>
          <a:blip r:embed="rId11"/>
          <a:stretch>
            <a:fillRect/>
          </a:stretch>
        </p:blipFill>
        <p:spPr>
          <a:xfrm>
            <a:off x="762000" y="1838330"/>
            <a:ext cx="6954243" cy="571793"/>
          </a:xfrm>
          <a:prstGeom prst="rect">
            <a:avLst/>
          </a:prstGeom>
          <a:ln>
            <a:solidFill>
              <a:schemeClr val="tx1"/>
            </a:solidFill>
          </a:ln>
        </p:spPr>
      </p:pic>
      <p:pic>
        <p:nvPicPr>
          <p:cNvPr id="36" name="Picture 2" descr="Output image">
            <a:extLst>
              <a:ext uri="{FF2B5EF4-FFF2-40B4-BE49-F238E27FC236}">
                <a16:creationId xmlns:a16="http://schemas.microsoft.com/office/drawing/2014/main" id="{D9ABA52F-2D4C-A20D-7350-1BC8242CFAB7}"/>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4280" b="22191"/>
          <a:stretch>
            <a:fillRect/>
          </a:stretch>
        </p:blipFill>
        <p:spPr bwMode="auto">
          <a:xfrm>
            <a:off x="1693727" y="6645859"/>
            <a:ext cx="7192804" cy="21310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703C29A-C4F5-4F37-FBF1-DF2274A149FC}"/>
              </a:ext>
            </a:extLst>
          </p:cNvPr>
          <p:cNvPicPr>
            <a:picLocks noChangeAspect="1"/>
          </p:cNvPicPr>
          <p:nvPr/>
        </p:nvPicPr>
        <p:blipFill>
          <a:blip r:embed="rId13"/>
          <a:stretch>
            <a:fillRect/>
          </a:stretch>
        </p:blipFill>
        <p:spPr>
          <a:xfrm>
            <a:off x="10726328" y="1729572"/>
            <a:ext cx="4968171" cy="480349"/>
          </a:xfrm>
          <a:prstGeom prst="rect">
            <a:avLst/>
          </a:prstGeom>
          <a:ln>
            <a:solidFill>
              <a:schemeClr val="tx1"/>
            </a:solidFill>
          </a:ln>
        </p:spPr>
      </p:pic>
    </p:spTree>
    <p:extLst>
      <p:ext uri="{BB962C8B-B14F-4D97-AF65-F5344CB8AC3E}">
        <p14:creationId xmlns:p14="http://schemas.microsoft.com/office/powerpoint/2010/main" val="121770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5740C-40FC-5AC6-9DE0-20289AC807A2}"/>
            </a:ext>
          </a:extLst>
        </p:cNvPr>
        <p:cNvGrpSpPr/>
        <p:nvPr/>
      </p:nvGrpSpPr>
      <p:grpSpPr>
        <a:xfrm>
          <a:off x="0" y="0"/>
          <a:ext cx="0" cy="0"/>
          <a:chOff x="0" y="0"/>
          <a:chExt cx="0" cy="0"/>
        </a:xfrm>
      </p:grpSpPr>
      <p:sp>
        <p:nvSpPr>
          <p:cNvPr id="21" name="Freeform 18">
            <a:extLst>
              <a:ext uri="{FF2B5EF4-FFF2-40B4-BE49-F238E27FC236}">
                <a16:creationId xmlns:a16="http://schemas.microsoft.com/office/drawing/2014/main" id="{63EC4376-9C0F-2441-79D4-47D28E00AF43}"/>
              </a:ext>
            </a:extLst>
          </p:cNvPr>
          <p:cNvSpPr/>
          <p:nvPr/>
        </p:nvSpPr>
        <p:spPr>
          <a:xfrm rot="1441325">
            <a:off x="6379890" y="2034187"/>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3CDD9828-E7E0-85EE-5483-EA5AEB775EFA}"/>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DC447E8B-07C7-31E0-C49A-6D32C6EE0716}"/>
              </a:ext>
            </a:extLst>
          </p:cNvPr>
          <p:cNvSpPr/>
          <p:nvPr/>
        </p:nvSpPr>
        <p:spPr>
          <a:xfrm rot="1348423">
            <a:off x="16666760" y="559002"/>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A4667F20-45DA-41CA-A4C6-9719A33A8B4B}"/>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84C80A-7BD6-5501-AD05-DB36AC0F4E3D}"/>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9B459F2-233D-A7F6-9ACB-BFF864056A78}"/>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680C8561-4EB4-83AD-5DF7-18E9C4DCE9E6}"/>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A6343798-21E8-139D-7867-0B5327BDC367}"/>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4C091F7-75C2-3BC1-0B25-D5F4A1F9779D}"/>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34C091F7-75C2-3BC1-0B25-D5F4A1F9779D}"/>
                  </a:ext>
                </a:extLst>
              </p:cNvPr>
              <p:cNvPicPr/>
              <p:nvPr/>
            </p:nvPicPr>
            <p:blipFill>
              <a:blip r:embed="rId9"/>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F8A826B3-F6A1-9F4C-E526-5AE128861899}"/>
              </a:ext>
            </a:extLst>
          </p:cNvPr>
          <p:cNvSpPr txBox="1"/>
          <p:nvPr/>
        </p:nvSpPr>
        <p:spPr>
          <a:xfrm>
            <a:off x="-126689" y="365296"/>
            <a:ext cx="18288000" cy="1130951"/>
          </a:xfrm>
          <a:prstGeom prst="rect">
            <a:avLst/>
          </a:prstGeom>
        </p:spPr>
        <p:txBody>
          <a:bodyPr wrap="square" lIns="0" tIns="0" rIns="0" bIns="0" rtlCol="0" anchor="t">
            <a:spAutoFit/>
          </a:bodyPr>
          <a:lstStyle/>
          <a:p>
            <a:pPr algn="ctr">
              <a:lnSpc>
                <a:spcPts val="9900"/>
              </a:lnSpc>
            </a:pPr>
            <a:r>
              <a:rPr lang="en-US" sz="4800" dirty="0">
                <a:solidFill>
                  <a:srgbClr val="373737"/>
                </a:solidFill>
                <a:latin typeface="Open Sans Extra Bold"/>
                <a:ea typeface="Open Sans Extra Bold"/>
                <a:cs typeface="Open Sans Extra Bold"/>
                <a:sym typeface="Open Sans Extra Bold"/>
              </a:rPr>
              <a:t>How </a:t>
            </a:r>
            <a:r>
              <a:rPr lang="en-US" sz="4400" dirty="0">
                <a:solidFill>
                  <a:srgbClr val="373737"/>
                </a:solidFill>
                <a:latin typeface="Open Sans Extra Bold"/>
                <a:ea typeface="Open Sans Extra Bold"/>
                <a:cs typeface="Open Sans Extra Bold"/>
                <a:sym typeface="Open Sans Extra Bold"/>
              </a:rPr>
              <a:t>Distance</a:t>
            </a:r>
            <a:r>
              <a:rPr lang="en-US" sz="4800" dirty="0">
                <a:solidFill>
                  <a:srgbClr val="373737"/>
                </a:solidFill>
                <a:latin typeface="Open Sans Extra Bold"/>
                <a:ea typeface="Open Sans Extra Bold"/>
                <a:cs typeface="Open Sans Extra Bold"/>
                <a:sym typeface="Open Sans Extra Bold"/>
              </a:rPr>
              <a:t> Influences Delivery Performance</a:t>
            </a:r>
          </a:p>
        </p:txBody>
      </p:sp>
      <p:pic>
        <p:nvPicPr>
          <p:cNvPr id="3" name="Picture 2">
            <a:extLst>
              <a:ext uri="{FF2B5EF4-FFF2-40B4-BE49-F238E27FC236}">
                <a16:creationId xmlns:a16="http://schemas.microsoft.com/office/drawing/2014/main" id="{3BAC1346-3916-5C1E-4F0D-784CE0C70849}"/>
              </a:ext>
            </a:extLst>
          </p:cNvPr>
          <p:cNvPicPr>
            <a:picLocks noChangeAspect="1"/>
          </p:cNvPicPr>
          <p:nvPr/>
        </p:nvPicPr>
        <p:blipFill>
          <a:blip r:embed="rId10"/>
          <a:srcRect t="9734"/>
          <a:stretch>
            <a:fillRect/>
          </a:stretch>
        </p:blipFill>
        <p:spPr>
          <a:xfrm>
            <a:off x="3733800" y="2868123"/>
            <a:ext cx="9351867" cy="6198129"/>
          </a:xfrm>
          <a:prstGeom prst="rect">
            <a:avLst/>
          </a:prstGeom>
          <a:ln>
            <a:solidFill>
              <a:schemeClr val="tx1"/>
            </a:solidFill>
          </a:ln>
        </p:spPr>
      </p:pic>
      <p:pic>
        <p:nvPicPr>
          <p:cNvPr id="7" name="Picture 6">
            <a:extLst>
              <a:ext uri="{FF2B5EF4-FFF2-40B4-BE49-F238E27FC236}">
                <a16:creationId xmlns:a16="http://schemas.microsoft.com/office/drawing/2014/main" id="{73CEEBEB-4719-399E-3731-CE467698E667}"/>
              </a:ext>
            </a:extLst>
          </p:cNvPr>
          <p:cNvPicPr>
            <a:picLocks noChangeAspect="1"/>
          </p:cNvPicPr>
          <p:nvPr/>
        </p:nvPicPr>
        <p:blipFill>
          <a:blip r:embed="rId10"/>
          <a:srcRect l="18390" t="-109" r="13208" b="90830"/>
          <a:stretch>
            <a:fillRect/>
          </a:stretch>
        </p:blipFill>
        <p:spPr>
          <a:xfrm>
            <a:off x="7221881" y="1921175"/>
            <a:ext cx="6722719" cy="669628"/>
          </a:xfrm>
          <a:prstGeom prst="rect">
            <a:avLst/>
          </a:prstGeom>
          <a:ln>
            <a:solidFill>
              <a:schemeClr val="tx1"/>
            </a:solidFill>
          </a:ln>
        </p:spPr>
      </p:pic>
    </p:spTree>
    <p:extLst>
      <p:ext uri="{BB962C8B-B14F-4D97-AF65-F5344CB8AC3E}">
        <p14:creationId xmlns:p14="http://schemas.microsoft.com/office/powerpoint/2010/main" val="2977369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F4C4-55B9-855A-538D-E342CC10E966}"/>
            </a:ext>
          </a:extLst>
        </p:cNvPr>
        <p:cNvGrpSpPr/>
        <p:nvPr/>
      </p:nvGrpSpPr>
      <p:grpSpPr>
        <a:xfrm>
          <a:off x="0" y="0"/>
          <a:ext cx="0" cy="0"/>
          <a:chOff x="0" y="0"/>
          <a:chExt cx="0" cy="0"/>
        </a:xfrm>
      </p:grpSpPr>
      <p:sp>
        <p:nvSpPr>
          <p:cNvPr id="9" name="Freeform 18">
            <a:extLst>
              <a:ext uri="{FF2B5EF4-FFF2-40B4-BE49-F238E27FC236}">
                <a16:creationId xmlns:a16="http://schemas.microsoft.com/office/drawing/2014/main" id="{3850CE0D-4CFE-EA92-9C44-659B9963CF4B}"/>
              </a:ext>
            </a:extLst>
          </p:cNvPr>
          <p:cNvSpPr/>
          <p:nvPr/>
        </p:nvSpPr>
        <p:spPr>
          <a:xfrm rot="5732944">
            <a:off x="9552166" y="2327001"/>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sp>
        <p:nvSpPr>
          <p:cNvPr id="11" name="Freeform 12">
            <a:extLst>
              <a:ext uri="{FF2B5EF4-FFF2-40B4-BE49-F238E27FC236}">
                <a16:creationId xmlns:a16="http://schemas.microsoft.com/office/drawing/2014/main" id="{F07BC1A2-A6F8-1601-6281-D8FE7CC89348}"/>
              </a:ext>
            </a:extLst>
          </p:cNvPr>
          <p:cNvSpPr/>
          <p:nvPr/>
        </p:nvSpPr>
        <p:spPr>
          <a:xfrm rot="1348423">
            <a:off x="16623076" y="978291"/>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sp>
        <p:nvSpPr>
          <p:cNvPr id="14" name="TextBox 38">
            <a:extLst>
              <a:ext uri="{FF2B5EF4-FFF2-40B4-BE49-F238E27FC236}">
                <a16:creationId xmlns:a16="http://schemas.microsoft.com/office/drawing/2014/main" id="{6C482A49-1571-04EA-E3E2-A5F10B108D45}"/>
              </a:ext>
            </a:extLst>
          </p:cNvPr>
          <p:cNvSpPr txBox="1"/>
          <p:nvPr/>
        </p:nvSpPr>
        <p:spPr>
          <a:xfrm>
            <a:off x="2109304" y="434563"/>
            <a:ext cx="14069391"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Distribution of Orders Across Weight Ranges</a:t>
            </a:r>
          </a:p>
        </p:txBody>
      </p:sp>
      <p:cxnSp>
        <p:nvCxnSpPr>
          <p:cNvPr id="35" name="Straight Connector 34">
            <a:extLst>
              <a:ext uri="{FF2B5EF4-FFF2-40B4-BE49-F238E27FC236}">
                <a16:creationId xmlns:a16="http://schemas.microsoft.com/office/drawing/2014/main" id="{338F45C8-2E32-F71E-5AC1-4F9709213500}"/>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582209E6-5F41-D1B4-0725-FB6914DAFA5E}"/>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8AE308E0-91C7-8847-A508-BEE69DEFE376}"/>
              </a:ext>
            </a:extLst>
          </p:cNvPr>
          <p:cNvSpPr/>
          <p:nvPr/>
        </p:nvSpPr>
        <p:spPr>
          <a:xfrm rot="13169263">
            <a:off x="-751240" y="664798"/>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pic>
        <p:nvPicPr>
          <p:cNvPr id="8" name="Picture 7">
            <a:extLst>
              <a:ext uri="{FF2B5EF4-FFF2-40B4-BE49-F238E27FC236}">
                <a16:creationId xmlns:a16="http://schemas.microsoft.com/office/drawing/2014/main" id="{51EF582B-CEF5-E757-D31B-8EF72AB01D80}"/>
              </a:ext>
            </a:extLst>
          </p:cNvPr>
          <p:cNvPicPr>
            <a:picLocks noChangeAspect="1"/>
          </p:cNvPicPr>
          <p:nvPr/>
        </p:nvPicPr>
        <p:blipFill>
          <a:blip r:embed="rId8"/>
          <a:srcRect l="23407" t="2104" r="23275" b="89915"/>
          <a:stretch>
            <a:fillRect/>
          </a:stretch>
        </p:blipFill>
        <p:spPr>
          <a:xfrm>
            <a:off x="1981200" y="2043726"/>
            <a:ext cx="7614464" cy="658035"/>
          </a:xfrm>
          <a:prstGeom prst="rect">
            <a:avLst/>
          </a:prstGeom>
          <a:ln>
            <a:solidFill>
              <a:schemeClr val="tx1"/>
            </a:solidFill>
          </a:ln>
        </p:spPr>
      </p:pic>
      <p:pic>
        <p:nvPicPr>
          <p:cNvPr id="16" name="Picture 15">
            <a:extLst>
              <a:ext uri="{FF2B5EF4-FFF2-40B4-BE49-F238E27FC236}">
                <a16:creationId xmlns:a16="http://schemas.microsoft.com/office/drawing/2014/main" id="{065AA38E-157E-023D-AB56-E9665824F88D}"/>
              </a:ext>
            </a:extLst>
          </p:cNvPr>
          <p:cNvPicPr>
            <a:picLocks noChangeAspect="1"/>
          </p:cNvPicPr>
          <p:nvPr/>
        </p:nvPicPr>
        <p:blipFill>
          <a:blip r:embed="rId9"/>
          <a:srcRect t="8814"/>
          <a:stretch>
            <a:fillRect/>
          </a:stretch>
        </p:blipFill>
        <p:spPr>
          <a:xfrm>
            <a:off x="3173215" y="3361391"/>
            <a:ext cx="10964435" cy="6362377"/>
          </a:xfrm>
          <a:prstGeom prst="rect">
            <a:avLst/>
          </a:prstGeom>
          <a:ln>
            <a:solidFill>
              <a:schemeClr val="tx1"/>
            </a:solidFill>
          </a:ln>
        </p:spPr>
      </p:pic>
    </p:spTree>
    <p:extLst>
      <p:ext uri="{BB962C8B-B14F-4D97-AF65-F5344CB8AC3E}">
        <p14:creationId xmlns:p14="http://schemas.microsoft.com/office/powerpoint/2010/main" val="146455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600C6-F0CA-0AB6-DC7E-B352E6346DDB}"/>
            </a:ext>
          </a:extLst>
        </p:cNvPr>
        <p:cNvGrpSpPr/>
        <p:nvPr/>
      </p:nvGrpSpPr>
      <p:grpSpPr>
        <a:xfrm>
          <a:off x="0" y="0"/>
          <a:ext cx="0" cy="0"/>
          <a:chOff x="0" y="0"/>
          <a:chExt cx="0" cy="0"/>
        </a:xfrm>
      </p:grpSpPr>
      <p:sp>
        <p:nvSpPr>
          <p:cNvPr id="7" name="Freeform 18">
            <a:extLst>
              <a:ext uri="{FF2B5EF4-FFF2-40B4-BE49-F238E27FC236}">
                <a16:creationId xmlns:a16="http://schemas.microsoft.com/office/drawing/2014/main" id="{CD0D00F9-2939-9144-D22F-E2C10FBDE53E}"/>
              </a:ext>
            </a:extLst>
          </p:cNvPr>
          <p:cNvSpPr/>
          <p:nvPr/>
        </p:nvSpPr>
        <p:spPr>
          <a:xfrm rot="744615">
            <a:off x="7227306" y="2320476"/>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F34F222B-9C33-A33F-D19D-5349D170086D}"/>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E7511EC4-4B53-536E-AC2B-9E9569EF8221}"/>
              </a:ext>
            </a:extLst>
          </p:cNvPr>
          <p:cNvSpPr/>
          <p:nvPr/>
        </p:nvSpPr>
        <p:spPr>
          <a:xfrm rot="1348423">
            <a:off x="16906333" y="1078529"/>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a:p>
        </p:txBody>
      </p:sp>
      <p:sp>
        <p:nvSpPr>
          <p:cNvPr id="14" name="TextBox 38">
            <a:extLst>
              <a:ext uri="{FF2B5EF4-FFF2-40B4-BE49-F238E27FC236}">
                <a16:creationId xmlns:a16="http://schemas.microsoft.com/office/drawing/2014/main" id="{AC481760-54E7-734C-CCDE-191CA6C95E5D}"/>
              </a:ext>
            </a:extLst>
          </p:cNvPr>
          <p:cNvSpPr txBox="1"/>
          <p:nvPr/>
        </p:nvSpPr>
        <p:spPr>
          <a:xfrm>
            <a:off x="1214902" y="532269"/>
            <a:ext cx="15697200" cy="1130951"/>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How Delay Rate Vary by Chargeable Weights</a:t>
            </a:r>
          </a:p>
        </p:txBody>
      </p:sp>
      <p:cxnSp>
        <p:nvCxnSpPr>
          <p:cNvPr id="15" name="Straight Connector 14">
            <a:extLst>
              <a:ext uri="{FF2B5EF4-FFF2-40B4-BE49-F238E27FC236}">
                <a16:creationId xmlns:a16="http://schemas.microsoft.com/office/drawing/2014/main" id="{858926A2-6DDB-311B-05D1-6E1CE46EA066}"/>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EB3461B-6577-A48E-DAB1-5811A7BA6612}"/>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95998F0-20F7-E93D-310D-9A24158C4CA8}"/>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923FD980-702C-F88A-BA3D-92D629ED5B48}"/>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C03EA1B1-D3AE-DCDB-F531-937C851EC797}"/>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pic>
        <p:nvPicPr>
          <p:cNvPr id="6" name="Picture 5">
            <a:extLst>
              <a:ext uri="{FF2B5EF4-FFF2-40B4-BE49-F238E27FC236}">
                <a16:creationId xmlns:a16="http://schemas.microsoft.com/office/drawing/2014/main" id="{A20F4E4B-DD42-94C3-4970-705EF3142A6F}"/>
              </a:ext>
            </a:extLst>
          </p:cNvPr>
          <p:cNvPicPr>
            <a:picLocks noChangeAspect="1"/>
          </p:cNvPicPr>
          <p:nvPr/>
        </p:nvPicPr>
        <p:blipFill>
          <a:blip r:embed="rId8"/>
          <a:srcRect l="26474" t="22966" r="28356" b="69878"/>
          <a:stretch>
            <a:fillRect/>
          </a:stretch>
        </p:blipFill>
        <p:spPr>
          <a:xfrm>
            <a:off x="8001000" y="2154848"/>
            <a:ext cx="7415006" cy="695157"/>
          </a:xfrm>
          <a:prstGeom prst="rect">
            <a:avLst/>
          </a:prstGeom>
          <a:ln>
            <a:solidFill>
              <a:schemeClr val="tx1"/>
            </a:solidFill>
          </a:ln>
        </p:spPr>
      </p:pic>
      <p:pic>
        <p:nvPicPr>
          <p:cNvPr id="4" name="Picture 3">
            <a:extLst>
              <a:ext uri="{FF2B5EF4-FFF2-40B4-BE49-F238E27FC236}">
                <a16:creationId xmlns:a16="http://schemas.microsoft.com/office/drawing/2014/main" id="{A69AB6E7-6625-F836-8D98-17A5E2430F56}"/>
              </a:ext>
            </a:extLst>
          </p:cNvPr>
          <p:cNvPicPr>
            <a:picLocks noChangeAspect="1"/>
          </p:cNvPicPr>
          <p:nvPr/>
        </p:nvPicPr>
        <p:blipFill>
          <a:blip r:embed="rId9"/>
          <a:srcRect t="5708"/>
          <a:stretch>
            <a:fillRect/>
          </a:stretch>
        </p:blipFill>
        <p:spPr>
          <a:xfrm>
            <a:off x="3376127" y="3236921"/>
            <a:ext cx="10171371" cy="5124976"/>
          </a:xfrm>
          <a:prstGeom prst="rect">
            <a:avLst/>
          </a:prstGeom>
          <a:ln>
            <a:solidFill>
              <a:schemeClr val="tx1"/>
            </a:solidFill>
          </a:ln>
        </p:spPr>
      </p:pic>
    </p:spTree>
    <p:extLst>
      <p:ext uri="{BB962C8B-B14F-4D97-AF65-F5344CB8AC3E}">
        <p14:creationId xmlns:p14="http://schemas.microsoft.com/office/powerpoint/2010/main" val="4237225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8EFF5-E977-DB3D-12FC-533BB2C64B2B}"/>
            </a:ext>
          </a:extLst>
        </p:cNvPr>
        <p:cNvGrpSpPr/>
        <p:nvPr/>
      </p:nvGrpSpPr>
      <p:grpSpPr>
        <a:xfrm>
          <a:off x="0" y="0"/>
          <a:ext cx="0" cy="0"/>
          <a:chOff x="0" y="0"/>
          <a:chExt cx="0" cy="0"/>
        </a:xfrm>
      </p:grpSpPr>
      <p:sp>
        <p:nvSpPr>
          <p:cNvPr id="21" name="Freeform 18">
            <a:extLst>
              <a:ext uri="{FF2B5EF4-FFF2-40B4-BE49-F238E27FC236}">
                <a16:creationId xmlns:a16="http://schemas.microsoft.com/office/drawing/2014/main" id="{33CF8B5F-5309-D280-22E4-229D58A732CB}"/>
              </a:ext>
            </a:extLst>
          </p:cNvPr>
          <p:cNvSpPr/>
          <p:nvPr/>
        </p:nvSpPr>
        <p:spPr>
          <a:xfrm rot="744615">
            <a:off x="7462759" y="2242343"/>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4946BA1B-2BB7-1073-596A-C843A68DBE9E}"/>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3B06D0E5-7072-BC27-97F1-3496FA388B07}"/>
              </a:ext>
            </a:extLst>
          </p:cNvPr>
          <p:cNvSpPr/>
          <p:nvPr/>
        </p:nvSpPr>
        <p:spPr>
          <a:xfrm rot="1348423">
            <a:off x="17328363" y="642842"/>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a:p>
        </p:txBody>
      </p:sp>
      <p:cxnSp>
        <p:nvCxnSpPr>
          <p:cNvPr id="15" name="Straight Connector 14">
            <a:extLst>
              <a:ext uri="{FF2B5EF4-FFF2-40B4-BE49-F238E27FC236}">
                <a16:creationId xmlns:a16="http://schemas.microsoft.com/office/drawing/2014/main" id="{3692893C-AE7A-3315-88E3-C093E5BDB53B}"/>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FA94A9F-F69D-75F3-0725-1765FE76DE71}"/>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EB50D5F-5505-BA89-2A3B-26962C191FFD}"/>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53ABBB56-8433-D726-4357-4945AF006C65}"/>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4764C4D5-5577-2A71-6CEF-D9B70A77CEC1}"/>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7D8F11A-26CA-496D-D3B4-E5DBD57EAA32}"/>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07D8F11A-26CA-496D-D3B4-E5DBD57EAA32}"/>
                  </a:ext>
                </a:extLst>
              </p:cNvPr>
              <p:cNvPicPr/>
              <p:nvPr/>
            </p:nvPicPr>
            <p:blipFill>
              <a:blip r:embed="rId9"/>
              <a:stretch>
                <a:fillRect/>
              </a:stretch>
            </p:blipFill>
            <p:spPr>
              <a:xfrm>
                <a:off x="3616071" y="4758480"/>
                <a:ext cx="18000" cy="18000"/>
              </a:xfrm>
              <a:prstGeom prst="rect">
                <a:avLst/>
              </a:prstGeom>
            </p:spPr>
          </p:pic>
        </mc:Fallback>
      </mc:AlternateContent>
      <p:sp>
        <p:nvSpPr>
          <p:cNvPr id="16" name="TextBox 38">
            <a:extLst>
              <a:ext uri="{FF2B5EF4-FFF2-40B4-BE49-F238E27FC236}">
                <a16:creationId xmlns:a16="http://schemas.microsoft.com/office/drawing/2014/main" id="{12814E84-37F8-A3F3-0BFD-52E04FBCBE0C}"/>
              </a:ext>
            </a:extLst>
          </p:cNvPr>
          <p:cNvSpPr txBox="1"/>
          <p:nvPr/>
        </p:nvSpPr>
        <p:spPr>
          <a:xfrm>
            <a:off x="1183822" y="540297"/>
            <a:ext cx="15920355"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Relationship of Shipping Cost with Chargeable Weights</a:t>
            </a:r>
          </a:p>
        </p:txBody>
      </p:sp>
      <p:pic>
        <p:nvPicPr>
          <p:cNvPr id="23" name="Picture 22">
            <a:extLst>
              <a:ext uri="{FF2B5EF4-FFF2-40B4-BE49-F238E27FC236}">
                <a16:creationId xmlns:a16="http://schemas.microsoft.com/office/drawing/2014/main" id="{DB3165C9-DD57-90FD-86FC-56CD3857EC02}"/>
              </a:ext>
            </a:extLst>
          </p:cNvPr>
          <p:cNvPicPr>
            <a:picLocks noChangeAspect="1"/>
          </p:cNvPicPr>
          <p:nvPr/>
        </p:nvPicPr>
        <p:blipFill>
          <a:blip r:embed="rId10"/>
          <a:srcRect t="8942"/>
          <a:stretch>
            <a:fillRect/>
          </a:stretch>
        </p:blipFill>
        <p:spPr>
          <a:xfrm>
            <a:off x="3251367" y="3153994"/>
            <a:ext cx="10246560" cy="5633164"/>
          </a:xfrm>
          <a:prstGeom prst="rect">
            <a:avLst/>
          </a:prstGeom>
          <a:ln>
            <a:solidFill>
              <a:schemeClr val="tx1"/>
            </a:solidFill>
          </a:ln>
        </p:spPr>
      </p:pic>
      <p:pic>
        <p:nvPicPr>
          <p:cNvPr id="25" name="Picture 24">
            <a:extLst>
              <a:ext uri="{FF2B5EF4-FFF2-40B4-BE49-F238E27FC236}">
                <a16:creationId xmlns:a16="http://schemas.microsoft.com/office/drawing/2014/main" id="{A404A407-4223-BEDB-87E6-92E2E6F8CFB9}"/>
              </a:ext>
            </a:extLst>
          </p:cNvPr>
          <p:cNvPicPr>
            <a:picLocks noChangeAspect="1"/>
          </p:cNvPicPr>
          <p:nvPr/>
        </p:nvPicPr>
        <p:blipFill>
          <a:blip r:embed="rId10"/>
          <a:srcRect l="7608" t="-250" r="8006" b="91641"/>
          <a:stretch>
            <a:fillRect/>
          </a:stretch>
        </p:blipFill>
        <p:spPr>
          <a:xfrm>
            <a:off x="8225151" y="1978796"/>
            <a:ext cx="9524006" cy="586624"/>
          </a:xfrm>
          <a:prstGeom prst="rect">
            <a:avLst/>
          </a:prstGeom>
          <a:ln>
            <a:solidFill>
              <a:schemeClr val="tx1"/>
            </a:solidFill>
          </a:ln>
        </p:spPr>
      </p:pic>
    </p:spTree>
    <p:extLst>
      <p:ext uri="{BB962C8B-B14F-4D97-AF65-F5344CB8AC3E}">
        <p14:creationId xmlns:p14="http://schemas.microsoft.com/office/powerpoint/2010/main" val="544506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76DDB-9243-7173-7BF9-B9B6B6B51F23}"/>
            </a:ext>
          </a:extLst>
        </p:cNvPr>
        <p:cNvGrpSpPr/>
        <p:nvPr/>
      </p:nvGrpSpPr>
      <p:grpSpPr>
        <a:xfrm>
          <a:off x="0" y="0"/>
          <a:ext cx="0" cy="0"/>
          <a:chOff x="0" y="0"/>
          <a:chExt cx="0" cy="0"/>
        </a:xfrm>
      </p:grpSpPr>
      <p:sp>
        <p:nvSpPr>
          <p:cNvPr id="21" name="Freeform 18">
            <a:extLst>
              <a:ext uri="{FF2B5EF4-FFF2-40B4-BE49-F238E27FC236}">
                <a16:creationId xmlns:a16="http://schemas.microsoft.com/office/drawing/2014/main" id="{F6F95274-277B-DBEF-59CB-766D58F5FC35}"/>
              </a:ext>
            </a:extLst>
          </p:cNvPr>
          <p:cNvSpPr/>
          <p:nvPr/>
        </p:nvSpPr>
        <p:spPr>
          <a:xfrm rot="1441325">
            <a:off x="6379890" y="2034187"/>
            <a:ext cx="798397"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26E2097A-EF79-29C1-E2B9-D5B4D7FCD284}"/>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05344A49-DB4E-BF12-AB59-E239911C66D7}"/>
              </a:ext>
            </a:extLst>
          </p:cNvPr>
          <p:cNvSpPr/>
          <p:nvPr/>
        </p:nvSpPr>
        <p:spPr>
          <a:xfrm rot="1348423">
            <a:off x="16606960" y="855740"/>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834F9849-9734-4D3C-17E6-B1DB43CF419A}"/>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E586ADB-59A1-2A91-F8F0-92595896CA7A}"/>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4F2BFB9-4F5E-AB8E-B788-D718BC61FE61}"/>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B6826089-DAC6-E814-3242-7EA451B4F401}"/>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ED280094-5874-A6F1-43FB-8E4480641720}"/>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E27B9C99-CAA4-79F0-78E7-F0627863E3B2}"/>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E27B9C99-CAA4-79F0-78E7-F0627863E3B2}"/>
                  </a:ext>
                </a:extLst>
              </p:cNvPr>
              <p:cNvPicPr/>
              <p:nvPr/>
            </p:nvPicPr>
            <p:blipFill>
              <a:blip r:embed="rId9"/>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BBABF449-00AE-7DA9-AF22-EA5497633D9E}"/>
              </a:ext>
            </a:extLst>
          </p:cNvPr>
          <p:cNvSpPr txBox="1"/>
          <p:nvPr/>
        </p:nvSpPr>
        <p:spPr>
          <a:xfrm>
            <a:off x="908973" y="509796"/>
            <a:ext cx="15849599" cy="1130951"/>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Impact of Shipping Cost on Delivery Speed</a:t>
            </a:r>
          </a:p>
        </p:txBody>
      </p:sp>
      <p:pic>
        <p:nvPicPr>
          <p:cNvPr id="9" name="Picture 8">
            <a:extLst>
              <a:ext uri="{FF2B5EF4-FFF2-40B4-BE49-F238E27FC236}">
                <a16:creationId xmlns:a16="http://schemas.microsoft.com/office/drawing/2014/main" id="{9C11218F-0657-E6C9-C7C6-72C6E86CCACE}"/>
              </a:ext>
            </a:extLst>
          </p:cNvPr>
          <p:cNvPicPr>
            <a:picLocks noChangeAspect="1"/>
          </p:cNvPicPr>
          <p:nvPr/>
        </p:nvPicPr>
        <p:blipFill>
          <a:blip r:embed="rId10"/>
          <a:srcRect l="26413" r="25388" b="92318"/>
          <a:stretch>
            <a:fillRect/>
          </a:stretch>
        </p:blipFill>
        <p:spPr>
          <a:xfrm>
            <a:off x="7239000" y="1998403"/>
            <a:ext cx="6601018" cy="582666"/>
          </a:xfrm>
          <a:prstGeom prst="rect">
            <a:avLst/>
          </a:prstGeom>
          <a:ln>
            <a:solidFill>
              <a:schemeClr val="tx1"/>
            </a:solidFill>
          </a:ln>
        </p:spPr>
      </p:pic>
      <p:pic>
        <p:nvPicPr>
          <p:cNvPr id="13" name="Picture 12">
            <a:extLst>
              <a:ext uri="{FF2B5EF4-FFF2-40B4-BE49-F238E27FC236}">
                <a16:creationId xmlns:a16="http://schemas.microsoft.com/office/drawing/2014/main" id="{71AACE48-3C69-26AC-0551-6E6F55457682}"/>
              </a:ext>
            </a:extLst>
          </p:cNvPr>
          <p:cNvPicPr>
            <a:picLocks noChangeAspect="1"/>
          </p:cNvPicPr>
          <p:nvPr/>
        </p:nvPicPr>
        <p:blipFill>
          <a:blip r:embed="rId11"/>
          <a:srcRect t="2716"/>
          <a:stretch>
            <a:fillRect/>
          </a:stretch>
        </p:blipFill>
        <p:spPr>
          <a:xfrm>
            <a:off x="2474526" y="2965207"/>
            <a:ext cx="11686220" cy="5712553"/>
          </a:xfrm>
          <a:prstGeom prst="rect">
            <a:avLst/>
          </a:prstGeom>
          <a:ln>
            <a:solidFill>
              <a:schemeClr val="tx1"/>
            </a:solidFill>
          </a:ln>
        </p:spPr>
      </p:pic>
      <p:sp>
        <p:nvSpPr>
          <p:cNvPr id="2" name="Rectangle 1">
            <a:extLst>
              <a:ext uri="{FF2B5EF4-FFF2-40B4-BE49-F238E27FC236}">
                <a16:creationId xmlns:a16="http://schemas.microsoft.com/office/drawing/2014/main" id="{F086C201-2104-234F-7524-8C2F2A95191E}"/>
              </a:ext>
            </a:extLst>
          </p:cNvPr>
          <p:cNvSpPr/>
          <p:nvPr/>
        </p:nvSpPr>
        <p:spPr>
          <a:xfrm>
            <a:off x="11353800" y="3314701"/>
            <a:ext cx="2331623" cy="12146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Size of bubbles: Average of Chargeable Weight</a:t>
            </a:r>
            <a:endParaRPr lang="ar-BH"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816457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35D1E-DE42-083C-1418-4C6324335C18}"/>
            </a:ext>
          </a:extLst>
        </p:cNvPr>
        <p:cNvGrpSpPr/>
        <p:nvPr/>
      </p:nvGrpSpPr>
      <p:grpSpPr>
        <a:xfrm>
          <a:off x="0" y="0"/>
          <a:ext cx="0" cy="0"/>
          <a:chOff x="0" y="0"/>
          <a:chExt cx="0" cy="0"/>
        </a:xfrm>
      </p:grpSpPr>
      <p:sp>
        <p:nvSpPr>
          <p:cNvPr id="10" name="Freeform 18">
            <a:extLst>
              <a:ext uri="{FF2B5EF4-FFF2-40B4-BE49-F238E27FC236}">
                <a16:creationId xmlns:a16="http://schemas.microsoft.com/office/drawing/2014/main" id="{8B325540-34C0-593F-1EE5-D50A684B74C7}"/>
              </a:ext>
            </a:extLst>
          </p:cNvPr>
          <p:cNvSpPr/>
          <p:nvPr/>
        </p:nvSpPr>
        <p:spPr>
          <a:xfrm rot="1243336">
            <a:off x="6133985" y="2602760"/>
            <a:ext cx="768056"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6B4CFB6F-FAFD-A98D-C3BB-EB9E79F490F6}"/>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07BD1F0C-C6E8-19AF-D48B-7AE56DAA8DE3}"/>
              </a:ext>
            </a:extLst>
          </p:cNvPr>
          <p:cNvSpPr/>
          <p:nvPr/>
        </p:nvSpPr>
        <p:spPr>
          <a:xfrm rot="1348423">
            <a:off x="17033503" y="682898"/>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82823BB2-DD15-E2CF-8F12-9141212B0967}"/>
              </a:ext>
            </a:extLst>
          </p:cNvPr>
          <p:cNvCxnSpPr>
            <a:cxnSpLocks/>
          </p:cNvCxnSpPr>
          <p:nvPr/>
        </p:nvCxnSpPr>
        <p:spPr>
          <a:xfrm>
            <a:off x="0" y="417749"/>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960952D-252B-8BE2-A4F2-BFD7B527358A}"/>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8818FD3-F6FA-D3D1-0A60-519C17D91280}"/>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E1AA0202-F41D-62BB-AA21-FB08F105A8F7}"/>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A6ED075C-793B-A67B-1352-D7CDCDD243D1}"/>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859D569A-F1D0-FB00-8C3B-6F9D6596BFA3}"/>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859D569A-F1D0-FB00-8C3B-6F9D6596BFA3}"/>
                  </a:ext>
                </a:extLst>
              </p:cNvPr>
              <p:cNvPicPr/>
              <p:nvPr/>
            </p:nvPicPr>
            <p:blipFill>
              <a:blip r:embed="rId9"/>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78FCCD18-0B66-3664-2825-498A48A8107D}"/>
              </a:ext>
            </a:extLst>
          </p:cNvPr>
          <p:cNvSpPr txBox="1"/>
          <p:nvPr/>
        </p:nvSpPr>
        <p:spPr>
          <a:xfrm>
            <a:off x="1046995" y="336713"/>
            <a:ext cx="15897117"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Effect of Distance on Freight Charges (Late Deliveries)</a:t>
            </a:r>
          </a:p>
        </p:txBody>
      </p:sp>
      <p:pic>
        <p:nvPicPr>
          <p:cNvPr id="3" name="Picture 2">
            <a:extLst>
              <a:ext uri="{FF2B5EF4-FFF2-40B4-BE49-F238E27FC236}">
                <a16:creationId xmlns:a16="http://schemas.microsoft.com/office/drawing/2014/main" id="{F888D6E8-CA78-0289-BAF6-3883863C4592}"/>
              </a:ext>
            </a:extLst>
          </p:cNvPr>
          <p:cNvPicPr>
            <a:picLocks noChangeAspect="1"/>
          </p:cNvPicPr>
          <p:nvPr/>
        </p:nvPicPr>
        <p:blipFill>
          <a:blip r:embed="rId10"/>
          <a:srcRect t="10436" r="10006"/>
          <a:stretch>
            <a:fillRect/>
          </a:stretch>
        </p:blipFill>
        <p:spPr>
          <a:xfrm>
            <a:off x="2826697" y="3424770"/>
            <a:ext cx="11353800" cy="5835267"/>
          </a:xfrm>
          <a:prstGeom prst="rect">
            <a:avLst/>
          </a:prstGeom>
          <a:ln>
            <a:solidFill>
              <a:schemeClr val="tx1"/>
            </a:solidFill>
          </a:ln>
        </p:spPr>
      </p:pic>
      <p:pic>
        <p:nvPicPr>
          <p:cNvPr id="7" name="Picture 6">
            <a:extLst>
              <a:ext uri="{FF2B5EF4-FFF2-40B4-BE49-F238E27FC236}">
                <a16:creationId xmlns:a16="http://schemas.microsoft.com/office/drawing/2014/main" id="{D1A03102-EEF1-59A9-F998-AAE125C5DFF5}"/>
              </a:ext>
            </a:extLst>
          </p:cNvPr>
          <p:cNvPicPr>
            <a:picLocks noChangeAspect="1"/>
          </p:cNvPicPr>
          <p:nvPr/>
        </p:nvPicPr>
        <p:blipFill>
          <a:blip r:embed="rId10"/>
          <a:srcRect l="19200" t="1189" r="25841" b="89823"/>
          <a:stretch>
            <a:fillRect/>
          </a:stretch>
        </p:blipFill>
        <p:spPr>
          <a:xfrm>
            <a:off x="6979490" y="2457496"/>
            <a:ext cx="8458199" cy="688769"/>
          </a:xfrm>
          <a:prstGeom prst="rect">
            <a:avLst/>
          </a:prstGeom>
          <a:ln>
            <a:solidFill>
              <a:schemeClr val="tx1"/>
            </a:solidFill>
          </a:ln>
        </p:spPr>
      </p:pic>
    </p:spTree>
    <p:extLst>
      <p:ext uri="{BB962C8B-B14F-4D97-AF65-F5344CB8AC3E}">
        <p14:creationId xmlns:p14="http://schemas.microsoft.com/office/powerpoint/2010/main" val="853482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66CC4-E169-D61A-E844-F432480B25BD}"/>
            </a:ext>
          </a:extLst>
        </p:cNvPr>
        <p:cNvGrpSpPr/>
        <p:nvPr/>
      </p:nvGrpSpPr>
      <p:grpSpPr>
        <a:xfrm>
          <a:off x="0" y="0"/>
          <a:ext cx="0" cy="0"/>
          <a:chOff x="0" y="0"/>
          <a:chExt cx="0" cy="0"/>
        </a:xfrm>
      </p:grpSpPr>
      <p:sp>
        <p:nvSpPr>
          <p:cNvPr id="10" name="Freeform 18">
            <a:extLst>
              <a:ext uri="{FF2B5EF4-FFF2-40B4-BE49-F238E27FC236}">
                <a16:creationId xmlns:a16="http://schemas.microsoft.com/office/drawing/2014/main" id="{B757C802-F3C2-6366-38F0-48B9615D7DA1}"/>
              </a:ext>
            </a:extLst>
          </p:cNvPr>
          <p:cNvSpPr/>
          <p:nvPr/>
        </p:nvSpPr>
        <p:spPr>
          <a:xfrm rot="1243336">
            <a:off x="8272333" y="2510334"/>
            <a:ext cx="768056"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099F9DB4-ABB2-3A15-2625-C8E0FEA990FC}"/>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5F1F4E3D-6747-5242-F03E-70D3DB193F48}"/>
              </a:ext>
            </a:extLst>
          </p:cNvPr>
          <p:cNvSpPr/>
          <p:nvPr/>
        </p:nvSpPr>
        <p:spPr>
          <a:xfrm rot="1348423">
            <a:off x="16865723" y="827016"/>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7DA27052-043E-86D2-1616-D5669ADDA989}"/>
              </a:ext>
            </a:extLst>
          </p:cNvPr>
          <p:cNvCxnSpPr>
            <a:cxnSpLocks/>
          </p:cNvCxnSpPr>
          <p:nvPr/>
        </p:nvCxnSpPr>
        <p:spPr>
          <a:xfrm>
            <a:off x="0" y="417749"/>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F22A38-2A95-88A2-7E60-B4E15175E1C8}"/>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1B42F19-3338-9E1B-A17F-CB615B9C9B3B}"/>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B29ABECF-1E4E-CBA3-3D78-97606C4DDEE8}"/>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5803F647-2D94-99A6-4794-CDA18530E6B1}"/>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C9EF445-6F4C-613E-06FD-F3AB273D35F0}"/>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4C9EF445-6F4C-613E-06FD-F3AB273D35F0}"/>
                  </a:ext>
                </a:extLst>
              </p:cNvPr>
              <p:cNvPicPr/>
              <p:nvPr/>
            </p:nvPicPr>
            <p:blipFill>
              <a:blip r:embed="rId9"/>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B92B1952-85BD-852E-23D9-7D2437068079}"/>
              </a:ext>
            </a:extLst>
          </p:cNvPr>
          <p:cNvSpPr txBox="1"/>
          <p:nvPr/>
        </p:nvSpPr>
        <p:spPr>
          <a:xfrm>
            <a:off x="1719450" y="387787"/>
            <a:ext cx="14608558"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Impact of Order Size and Weight on Freight Cost</a:t>
            </a:r>
          </a:p>
        </p:txBody>
      </p:sp>
      <p:pic>
        <p:nvPicPr>
          <p:cNvPr id="4" name="Picture 3">
            <a:extLst>
              <a:ext uri="{FF2B5EF4-FFF2-40B4-BE49-F238E27FC236}">
                <a16:creationId xmlns:a16="http://schemas.microsoft.com/office/drawing/2014/main" id="{3D3172E8-FC6C-CF51-A501-9E051D3A61F9}"/>
              </a:ext>
            </a:extLst>
          </p:cNvPr>
          <p:cNvPicPr>
            <a:picLocks noChangeAspect="1"/>
          </p:cNvPicPr>
          <p:nvPr/>
        </p:nvPicPr>
        <p:blipFill>
          <a:blip r:embed="rId10"/>
          <a:srcRect l="9258" t="22500" r="12659" b="10736"/>
          <a:stretch>
            <a:fillRect/>
          </a:stretch>
        </p:blipFill>
        <p:spPr>
          <a:xfrm>
            <a:off x="3035547" y="3277425"/>
            <a:ext cx="11353799" cy="5144018"/>
          </a:xfrm>
          <a:prstGeom prst="rect">
            <a:avLst/>
          </a:prstGeom>
          <a:ln>
            <a:solidFill>
              <a:schemeClr val="tx1"/>
            </a:solidFill>
          </a:ln>
        </p:spPr>
      </p:pic>
      <p:pic>
        <p:nvPicPr>
          <p:cNvPr id="9" name="Picture 8">
            <a:extLst>
              <a:ext uri="{FF2B5EF4-FFF2-40B4-BE49-F238E27FC236}">
                <a16:creationId xmlns:a16="http://schemas.microsoft.com/office/drawing/2014/main" id="{AA3A70AC-9980-D311-D502-5EB1E31B7426}"/>
              </a:ext>
            </a:extLst>
          </p:cNvPr>
          <p:cNvPicPr>
            <a:picLocks noChangeAspect="1"/>
          </p:cNvPicPr>
          <p:nvPr/>
        </p:nvPicPr>
        <p:blipFill>
          <a:blip r:embed="rId10"/>
          <a:srcRect l="26109" t="18196" r="29649" b="76718"/>
          <a:stretch>
            <a:fillRect/>
          </a:stretch>
        </p:blipFill>
        <p:spPr>
          <a:xfrm>
            <a:off x="9023729" y="2477627"/>
            <a:ext cx="6708622" cy="408596"/>
          </a:xfrm>
          <a:prstGeom prst="rect">
            <a:avLst/>
          </a:prstGeom>
          <a:ln>
            <a:solidFill>
              <a:schemeClr val="tx1"/>
            </a:solidFill>
          </a:ln>
        </p:spPr>
      </p:pic>
      <p:sp>
        <p:nvSpPr>
          <p:cNvPr id="2" name="Rectangle 1">
            <a:extLst>
              <a:ext uri="{FF2B5EF4-FFF2-40B4-BE49-F238E27FC236}">
                <a16:creationId xmlns:a16="http://schemas.microsoft.com/office/drawing/2014/main" id="{CF5E7554-BBDC-A8CB-9CBF-815175BBBD48}"/>
              </a:ext>
            </a:extLst>
          </p:cNvPr>
          <p:cNvSpPr/>
          <p:nvPr/>
        </p:nvSpPr>
        <p:spPr>
          <a:xfrm>
            <a:off x="11582400" y="3463376"/>
            <a:ext cx="2331623" cy="12146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Size of bubbles: Average of delivery duration</a:t>
            </a:r>
            <a:endParaRPr lang="ar-BH"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789081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4E39E-4372-F748-9B22-278545FC277E}"/>
            </a:ext>
          </a:extLst>
        </p:cNvPr>
        <p:cNvGrpSpPr/>
        <p:nvPr/>
      </p:nvGrpSpPr>
      <p:grpSpPr>
        <a:xfrm>
          <a:off x="0" y="0"/>
          <a:ext cx="0" cy="0"/>
          <a:chOff x="0" y="0"/>
          <a:chExt cx="0" cy="0"/>
        </a:xfrm>
      </p:grpSpPr>
      <p:sp>
        <p:nvSpPr>
          <p:cNvPr id="20" name="Freeform 18">
            <a:extLst>
              <a:ext uri="{FF2B5EF4-FFF2-40B4-BE49-F238E27FC236}">
                <a16:creationId xmlns:a16="http://schemas.microsoft.com/office/drawing/2014/main" id="{C53E26D3-681B-4D4B-62DD-38A3FF973E65}"/>
              </a:ext>
            </a:extLst>
          </p:cNvPr>
          <p:cNvSpPr/>
          <p:nvPr/>
        </p:nvSpPr>
        <p:spPr>
          <a:xfrm rot="1243336">
            <a:off x="5435170" y="2425378"/>
            <a:ext cx="768056"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0843803D-FED5-5530-D067-356C739A6884}"/>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EDAB3F8E-54EF-F2D8-6D4B-6CA7BF6E21CA}"/>
              </a:ext>
            </a:extLst>
          </p:cNvPr>
          <p:cNvSpPr/>
          <p:nvPr/>
        </p:nvSpPr>
        <p:spPr>
          <a:xfrm rot="1348423">
            <a:off x="16842321" y="847246"/>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57FCD81A-E363-17CC-FA4E-7C733277F2F1}"/>
              </a:ext>
            </a:extLst>
          </p:cNvPr>
          <p:cNvCxnSpPr>
            <a:cxnSpLocks/>
          </p:cNvCxnSpPr>
          <p:nvPr/>
        </p:nvCxnSpPr>
        <p:spPr>
          <a:xfrm>
            <a:off x="0" y="365296"/>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435393-95CD-420B-7A01-E35A4F304D00}"/>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9A63D2A-20C3-AC75-2383-3359E5B5DB53}"/>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EDD93C40-9AE5-E19A-3C41-431F9863E6D8}"/>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85A4953E-EE18-7DAF-0A8E-3D03D6C4AF4A}"/>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DB9FA615-E8D0-FA98-0039-4917FEBCC2B0}"/>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DB9FA615-E8D0-FA98-0039-4917FEBCC2B0}"/>
                  </a:ext>
                </a:extLst>
              </p:cNvPr>
              <p:cNvPicPr/>
              <p:nvPr/>
            </p:nvPicPr>
            <p:blipFill>
              <a:blip r:embed="rId10"/>
              <a:stretch>
                <a:fillRect/>
              </a:stretch>
            </p:blipFill>
            <p:spPr>
              <a:xfrm>
                <a:off x="3615711" y="4758480"/>
                <a:ext cx="18000" cy="18000"/>
              </a:xfrm>
              <a:prstGeom prst="rect">
                <a:avLst/>
              </a:prstGeom>
            </p:spPr>
          </p:pic>
        </mc:Fallback>
      </mc:AlternateContent>
      <p:sp>
        <p:nvSpPr>
          <p:cNvPr id="16" name="TextBox 38">
            <a:extLst>
              <a:ext uri="{FF2B5EF4-FFF2-40B4-BE49-F238E27FC236}">
                <a16:creationId xmlns:a16="http://schemas.microsoft.com/office/drawing/2014/main" id="{FCCAFF3D-DF18-AF4B-FB92-30354E5C16DC}"/>
              </a:ext>
            </a:extLst>
          </p:cNvPr>
          <p:cNvSpPr txBox="1"/>
          <p:nvPr/>
        </p:nvSpPr>
        <p:spPr>
          <a:xfrm>
            <a:off x="2756595" y="502210"/>
            <a:ext cx="12774809"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Seasonal Patterns in Logistic Delays</a:t>
            </a:r>
          </a:p>
        </p:txBody>
      </p:sp>
      <p:pic>
        <p:nvPicPr>
          <p:cNvPr id="10" name="Picture 9">
            <a:extLst>
              <a:ext uri="{FF2B5EF4-FFF2-40B4-BE49-F238E27FC236}">
                <a16:creationId xmlns:a16="http://schemas.microsoft.com/office/drawing/2014/main" id="{9C5BCAFA-98F4-3696-8702-A45FDD0E1B02}"/>
              </a:ext>
            </a:extLst>
          </p:cNvPr>
          <p:cNvPicPr>
            <a:picLocks noChangeAspect="1"/>
          </p:cNvPicPr>
          <p:nvPr/>
        </p:nvPicPr>
        <p:blipFill>
          <a:blip r:embed="rId11"/>
          <a:srcRect l="191" t="9213" r="-191" b="-1852"/>
          <a:stretch>
            <a:fillRect/>
          </a:stretch>
        </p:blipFill>
        <p:spPr>
          <a:xfrm>
            <a:off x="3411499" y="3314700"/>
            <a:ext cx="11301847" cy="5286947"/>
          </a:xfrm>
          <a:prstGeom prst="rect">
            <a:avLst/>
          </a:prstGeom>
          <a:ln>
            <a:solidFill>
              <a:schemeClr val="tx1"/>
            </a:solidFill>
          </a:ln>
        </p:spPr>
      </p:pic>
      <p:pic>
        <p:nvPicPr>
          <p:cNvPr id="22" name="Picture 21">
            <a:extLst>
              <a:ext uri="{FF2B5EF4-FFF2-40B4-BE49-F238E27FC236}">
                <a16:creationId xmlns:a16="http://schemas.microsoft.com/office/drawing/2014/main" id="{795E77C4-09D6-4465-559B-38C8EC4B1019}"/>
              </a:ext>
            </a:extLst>
          </p:cNvPr>
          <p:cNvPicPr>
            <a:picLocks noChangeAspect="1"/>
          </p:cNvPicPr>
          <p:nvPr/>
        </p:nvPicPr>
        <p:blipFill>
          <a:blip r:embed="rId12"/>
          <a:stretch>
            <a:fillRect/>
          </a:stretch>
        </p:blipFill>
        <p:spPr>
          <a:xfrm>
            <a:off x="6290941" y="2352191"/>
            <a:ext cx="4808611" cy="518915"/>
          </a:xfrm>
          <a:prstGeom prst="rect">
            <a:avLst/>
          </a:prstGeom>
          <a:ln>
            <a:solidFill>
              <a:schemeClr val="tx1"/>
            </a:solidFill>
          </a:ln>
        </p:spPr>
      </p:pic>
    </p:spTree>
    <p:extLst>
      <p:ext uri="{BB962C8B-B14F-4D97-AF65-F5344CB8AC3E}">
        <p14:creationId xmlns:p14="http://schemas.microsoft.com/office/powerpoint/2010/main" val="2283130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92D7-9867-86BE-E947-F59DA7A55699}"/>
            </a:ext>
          </a:extLst>
        </p:cNvPr>
        <p:cNvGrpSpPr/>
        <p:nvPr/>
      </p:nvGrpSpPr>
      <p:grpSpPr>
        <a:xfrm>
          <a:off x="0" y="0"/>
          <a:ext cx="0" cy="0"/>
          <a:chOff x="0" y="0"/>
          <a:chExt cx="0" cy="0"/>
        </a:xfrm>
      </p:grpSpPr>
      <p:sp>
        <p:nvSpPr>
          <p:cNvPr id="18" name="Freeform 18">
            <a:extLst>
              <a:ext uri="{FF2B5EF4-FFF2-40B4-BE49-F238E27FC236}">
                <a16:creationId xmlns:a16="http://schemas.microsoft.com/office/drawing/2014/main" id="{136EA53D-DEAA-97EA-D0F2-0040979203B1}"/>
              </a:ext>
            </a:extLst>
          </p:cNvPr>
          <p:cNvSpPr/>
          <p:nvPr/>
        </p:nvSpPr>
        <p:spPr>
          <a:xfrm rot="6981580">
            <a:off x="14749016" y="2575603"/>
            <a:ext cx="768056"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sp>
        <p:nvSpPr>
          <p:cNvPr id="10" name="Freeform 18">
            <a:extLst>
              <a:ext uri="{FF2B5EF4-FFF2-40B4-BE49-F238E27FC236}">
                <a16:creationId xmlns:a16="http://schemas.microsoft.com/office/drawing/2014/main" id="{EFD90E7B-3346-88F5-B3AF-BCDBBE52F69C}"/>
              </a:ext>
            </a:extLst>
          </p:cNvPr>
          <p:cNvSpPr/>
          <p:nvPr/>
        </p:nvSpPr>
        <p:spPr>
          <a:xfrm rot="1243336">
            <a:off x="1997241" y="2604773"/>
            <a:ext cx="768056" cy="1142977"/>
          </a:xfrm>
          <a:custGeom>
            <a:avLst/>
            <a:gdLst/>
            <a:ahLst/>
            <a:cxnLst/>
            <a:rect l="l" t="t" r="r" b="b"/>
            <a:pathLst>
              <a:path w="798397" h="1142977">
                <a:moveTo>
                  <a:pt x="0" y="0"/>
                </a:moveTo>
                <a:lnTo>
                  <a:pt x="798398" y="0"/>
                </a:lnTo>
                <a:lnTo>
                  <a:pt x="798398" y="1142977"/>
                </a:lnTo>
                <a:lnTo>
                  <a:pt x="0" y="1142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1365E32D-2ECE-E940-2B04-814642AFF757}"/>
              </a:ext>
            </a:extLst>
          </p:cNvPr>
          <p:cNvCxnSpPr>
            <a:cxnSpLocks/>
          </p:cNvCxnSpPr>
          <p:nvPr/>
        </p:nvCxnSpPr>
        <p:spPr>
          <a:xfrm>
            <a:off x="0" y="9769304"/>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11" name="Freeform 12">
            <a:extLst>
              <a:ext uri="{FF2B5EF4-FFF2-40B4-BE49-F238E27FC236}">
                <a16:creationId xmlns:a16="http://schemas.microsoft.com/office/drawing/2014/main" id="{0FA1AEFD-5FCE-7A1D-44A9-5786DBAFB717}"/>
              </a:ext>
            </a:extLst>
          </p:cNvPr>
          <p:cNvSpPr/>
          <p:nvPr/>
        </p:nvSpPr>
        <p:spPr>
          <a:xfrm rot="1348423">
            <a:off x="16906331" y="758418"/>
            <a:ext cx="841583" cy="940288"/>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BH" dirty="0"/>
          </a:p>
        </p:txBody>
      </p:sp>
      <p:cxnSp>
        <p:nvCxnSpPr>
          <p:cNvPr id="15" name="Straight Connector 14">
            <a:extLst>
              <a:ext uri="{FF2B5EF4-FFF2-40B4-BE49-F238E27FC236}">
                <a16:creationId xmlns:a16="http://schemas.microsoft.com/office/drawing/2014/main" id="{E4D721BB-ABAD-B2E0-2D27-39C5858BD3AA}"/>
              </a:ext>
            </a:extLst>
          </p:cNvPr>
          <p:cNvCxnSpPr>
            <a:cxnSpLocks/>
          </p:cNvCxnSpPr>
          <p:nvPr/>
        </p:nvCxnSpPr>
        <p:spPr>
          <a:xfrm>
            <a:off x="0" y="417749"/>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3D8E68D-07E3-66C6-687C-5AEE3CA3D0AF}"/>
              </a:ext>
            </a:extLst>
          </p:cNvPr>
          <p:cNvCxnSpPr>
            <a:cxnSpLocks/>
          </p:cNvCxnSpPr>
          <p:nvPr/>
        </p:nvCxnSpPr>
        <p:spPr>
          <a:xfrm>
            <a:off x="538843" y="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A5EEAE9-ECC0-0416-A305-FF327E7EA9F9}"/>
              </a:ext>
            </a:extLst>
          </p:cNvPr>
          <p:cNvCxnSpPr>
            <a:cxnSpLocks/>
          </p:cNvCxnSpPr>
          <p:nvPr/>
        </p:nvCxnSpPr>
        <p:spPr>
          <a:xfrm>
            <a:off x="17749157" y="6096000"/>
            <a:ext cx="0" cy="41910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40" name="Freeform 10">
            <a:extLst>
              <a:ext uri="{FF2B5EF4-FFF2-40B4-BE49-F238E27FC236}">
                <a16:creationId xmlns:a16="http://schemas.microsoft.com/office/drawing/2014/main" id="{D21F455A-867D-B3AB-8165-8702B56C16DE}"/>
              </a:ext>
            </a:extLst>
          </p:cNvPr>
          <p:cNvSpPr/>
          <p:nvPr/>
        </p:nvSpPr>
        <p:spPr>
          <a:xfrm rot="13169263">
            <a:off x="15038489" y="3282946"/>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p:sp>
        <p:nvSpPr>
          <p:cNvPr id="41" name="Freeform 10">
            <a:extLst>
              <a:ext uri="{FF2B5EF4-FFF2-40B4-BE49-F238E27FC236}">
                <a16:creationId xmlns:a16="http://schemas.microsoft.com/office/drawing/2014/main" id="{CA87A8E7-FA29-71CD-7B98-16962101E108}"/>
              </a:ext>
            </a:extLst>
          </p:cNvPr>
          <p:cNvSpPr/>
          <p:nvPr/>
        </p:nvSpPr>
        <p:spPr>
          <a:xfrm rot="13169263">
            <a:off x="-673088" y="4826247"/>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BH"/>
          </a:p>
        </p:txBody>
      </p:sp>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8AA3D04-E7B5-4C08-05BB-7DFF4CDBCE05}"/>
                  </a:ext>
                </a:extLst>
              </p14:cNvPr>
              <p14:cNvContentPartPr/>
              <p14:nvPr/>
            </p14:nvContentPartPr>
            <p14:xfrm>
              <a:off x="3624711" y="4767480"/>
              <a:ext cx="360" cy="360"/>
            </p14:xfrm>
          </p:contentPart>
        </mc:Choice>
        <mc:Fallback xmlns="">
          <p:pic>
            <p:nvPicPr>
              <p:cNvPr id="8" name="Ink 7">
                <a:extLst>
                  <a:ext uri="{FF2B5EF4-FFF2-40B4-BE49-F238E27FC236}">
                    <a16:creationId xmlns:a16="http://schemas.microsoft.com/office/drawing/2014/main" id="{58AA3D04-E7B5-4C08-05BB-7DFF4CDBCE05}"/>
                  </a:ext>
                </a:extLst>
              </p:cNvPr>
              <p:cNvPicPr/>
              <p:nvPr/>
            </p:nvPicPr>
            <p:blipFill>
              <a:blip r:embed="rId9"/>
              <a:stretch>
                <a:fillRect/>
              </a:stretch>
            </p:blipFill>
            <p:spPr>
              <a:xfrm>
                <a:off x="3615711" y="4758480"/>
                <a:ext cx="18000" cy="18000"/>
              </a:xfrm>
              <a:prstGeom prst="rect">
                <a:avLst/>
              </a:prstGeom>
            </p:spPr>
          </p:pic>
        </mc:Fallback>
      </mc:AlternateContent>
      <p:pic>
        <p:nvPicPr>
          <p:cNvPr id="7" name="Picture 6">
            <a:extLst>
              <a:ext uri="{FF2B5EF4-FFF2-40B4-BE49-F238E27FC236}">
                <a16:creationId xmlns:a16="http://schemas.microsoft.com/office/drawing/2014/main" id="{3598BF15-8C9A-F695-6540-A003090FE99D}"/>
              </a:ext>
            </a:extLst>
          </p:cNvPr>
          <p:cNvPicPr>
            <a:picLocks noChangeAspect="1"/>
          </p:cNvPicPr>
          <p:nvPr/>
        </p:nvPicPr>
        <p:blipFill>
          <a:blip r:embed="rId10"/>
          <a:srcRect b="90616"/>
          <a:stretch>
            <a:fillRect/>
          </a:stretch>
        </p:blipFill>
        <p:spPr>
          <a:xfrm>
            <a:off x="2709529" y="2431877"/>
            <a:ext cx="5914226" cy="479603"/>
          </a:xfrm>
          <a:prstGeom prst="rect">
            <a:avLst/>
          </a:prstGeom>
          <a:ln>
            <a:solidFill>
              <a:schemeClr val="tx1"/>
            </a:solidFill>
          </a:ln>
        </p:spPr>
      </p:pic>
      <p:pic>
        <p:nvPicPr>
          <p:cNvPr id="13" name="Picture 12">
            <a:extLst>
              <a:ext uri="{FF2B5EF4-FFF2-40B4-BE49-F238E27FC236}">
                <a16:creationId xmlns:a16="http://schemas.microsoft.com/office/drawing/2014/main" id="{C325B2B3-A91F-0724-04E3-3D84AF31CFA4}"/>
              </a:ext>
            </a:extLst>
          </p:cNvPr>
          <p:cNvPicPr>
            <a:picLocks noChangeAspect="1"/>
          </p:cNvPicPr>
          <p:nvPr/>
        </p:nvPicPr>
        <p:blipFill>
          <a:blip r:embed="rId11"/>
          <a:srcRect t="1797"/>
          <a:stretch>
            <a:fillRect/>
          </a:stretch>
        </p:blipFill>
        <p:spPr>
          <a:xfrm>
            <a:off x="1237102" y="3443708"/>
            <a:ext cx="7420967" cy="5760709"/>
          </a:xfrm>
          <a:prstGeom prst="rect">
            <a:avLst/>
          </a:prstGeom>
          <a:ln>
            <a:solidFill>
              <a:schemeClr val="tx1"/>
            </a:solidFill>
          </a:ln>
        </p:spPr>
      </p:pic>
      <p:pic>
        <p:nvPicPr>
          <p:cNvPr id="17" name="Picture 16">
            <a:extLst>
              <a:ext uri="{FF2B5EF4-FFF2-40B4-BE49-F238E27FC236}">
                <a16:creationId xmlns:a16="http://schemas.microsoft.com/office/drawing/2014/main" id="{45489301-FB49-CE4A-AA67-36B5721C1CAC}"/>
              </a:ext>
            </a:extLst>
          </p:cNvPr>
          <p:cNvPicPr>
            <a:picLocks noChangeAspect="1"/>
          </p:cNvPicPr>
          <p:nvPr/>
        </p:nvPicPr>
        <p:blipFill>
          <a:blip r:embed="rId12"/>
          <a:srcRect t="10554"/>
          <a:stretch>
            <a:fillRect/>
          </a:stretch>
        </p:blipFill>
        <p:spPr>
          <a:xfrm>
            <a:off x="8843819" y="3443708"/>
            <a:ext cx="7691552" cy="5760709"/>
          </a:xfrm>
          <a:prstGeom prst="rect">
            <a:avLst/>
          </a:prstGeom>
          <a:ln>
            <a:solidFill>
              <a:schemeClr val="tx1"/>
            </a:solidFill>
          </a:ln>
        </p:spPr>
      </p:pic>
      <p:pic>
        <p:nvPicPr>
          <p:cNvPr id="20" name="Picture 19">
            <a:extLst>
              <a:ext uri="{FF2B5EF4-FFF2-40B4-BE49-F238E27FC236}">
                <a16:creationId xmlns:a16="http://schemas.microsoft.com/office/drawing/2014/main" id="{96455A46-362C-FD7F-39CA-47C14150F3C7}"/>
              </a:ext>
            </a:extLst>
          </p:cNvPr>
          <p:cNvPicPr>
            <a:picLocks noChangeAspect="1"/>
          </p:cNvPicPr>
          <p:nvPr/>
        </p:nvPicPr>
        <p:blipFill>
          <a:blip r:embed="rId13"/>
          <a:stretch>
            <a:fillRect/>
          </a:stretch>
        </p:blipFill>
        <p:spPr>
          <a:xfrm>
            <a:off x="10442679" y="2403697"/>
            <a:ext cx="4493832" cy="535962"/>
          </a:xfrm>
          <a:prstGeom prst="rect">
            <a:avLst/>
          </a:prstGeom>
          <a:ln>
            <a:solidFill>
              <a:schemeClr val="tx1"/>
            </a:solidFill>
          </a:ln>
        </p:spPr>
      </p:pic>
      <p:sp>
        <p:nvSpPr>
          <p:cNvPr id="21" name="TextBox 38">
            <a:extLst>
              <a:ext uri="{FF2B5EF4-FFF2-40B4-BE49-F238E27FC236}">
                <a16:creationId xmlns:a16="http://schemas.microsoft.com/office/drawing/2014/main" id="{1C5AEB9D-46F8-A6A6-83A0-7395BD4AF0EC}"/>
              </a:ext>
            </a:extLst>
          </p:cNvPr>
          <p:cNvSpPr txBox="1"/>
          <p:nvPr/>
        </p:nvSpPr>
        <p:spPr>
          <a:xfrm>
            <a:off x="861455" y="530645"/>
            <a:ext cx="15897117" cy="1097865"/>
          </a:xfrm>
          <a:prstGeom prst="rect">
            <a:avLst/>
          </a:prstGeom>
        </p:spPr>
        <p:txBody>
          <a:bodyPr wrap="square" lIns="0" tIns="0" rIns="0" bIns="0" rtlCol="0" anchor="t">
            <a:spAutoFit/>
          </a:bodyPr>
          <a:lstStyle/>
          <a:p>
            <a:pPr algn="ctr">
              <a:lnSpc>
                <a:spcPts val="9900"/>
              </a:lnSpc>
            </a:pPr>
            <a:r>
              <a:rPr lang="en-US" sz="4400" dirty="0">
                <a:solidFill>
                  <a:srgbClr val="373737"/>
                </a:solidFill>
                <a:latin typeface="Open Sans Extra Bold"/>
                <a:ea typeface="Open Sans Extra Bold"/>
                <a:cs typeface="Open Sans Extra Bold"/>
                <a:sym typeface="Open Sans Extra Bold"/>
              </a:rPr>
              <a:t>Customer Feedback Based on Delivery Performance</a:t>
            </a:r>
          </a:p>
        </p:txBody>
      </p:sp>
    </p:spTree>
    <p:extLst>
      <p:ext uri="{BB962C8B-B14F-4D97-AF65-F5344CB8AC3E}">
        <p14:creationId xmlns:p14="http://schemas.microsoft.com/office/powerpoint/2010/main" val="809235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B44987EC-92BE-F2C7-35BF-14D905A4178B}"/>
              </a:ext>
            </a:extLst>
          </p:cNvPr>
          <p:cNvSpPr/>
          <p:nvPr/>
        </p:nvSpPr>
        <p:spPr>
          <a:xfrm rot="13169263">
            <a:off x="-658713" y="2436203"/>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505637B9-C736-9D94-1653-FD4F68882C83}"/>
              </a:ext>
            </a:extLst>
          </p:cNvPr>
          <p:cNvCxnSpPr>
            <a:cxnSpLocks/>
          </p:cNvCxnSpPr>
          <p:nvPr/>
        </p:nvCxnSpPr>
        <p:spPr>
          <a:xfrm>
            <a:off x="0" y="417749"/>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8A2EB56-155E-D7FF-07D1-F8E25903A8FC}"/>
              </a:ext>
            </a:extLst>
          </p:cNvPr>
          <p:cNvCxnSpPr>
            <a:cxnSpLocks/>
          </p:cNvCxnSpPr>
          <p:nvPr/>
        </p:nvCxnSpPr>
        <p:spPr>
          <a:xfrm>
            <a:off x="538843" y="0"/>
            <a:ext cx="0" cy="17907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9" name="TextBox 38">
            <a:extLst>
              <a:ext uri="{FF2B5EF4-FFF2-40B4-BE49-F238E27FC236}">
                <a16:creationId xmlns:a16="http://schemas.microsoft.com/office/drawing/2014/main" id="{6DBB5CFB-2FFB-B3EA-E18D-AE889E735F2C}"/>
              </a:ext>
            </a:extLst>
          </p:cNvPr>
          <p:cNvSpPr txBox="1"/>
          <p:nvPr/>
        </p:nvSpPr>
        <p:spPr>
          <a:xfrm>
            <a:off x="1083130" y="541064"/>
            <a:ext cx="15897117" cy="1150828"/>
          </a:xfrm>
          <a:prstGeom prst="rect">
            <a:avLst/>
          </a:prstGeom>
        </p:spPr>
        <p:txBody>
          <a:bodyPr wrap="square" lIns="0" tIns="0" rIns="0" bIns="0" rtlCol="0" anchor="t">
            <a:spAutoFit/>
          </a:bodyPr>
          <a:lstStyle/>
          <a:p>
            <a:pPr algn="ctr">
              <a:lnSpc>
                <a:spcPts val="9900"/>
              </a:lnSpc>
            </a:pPr>
            <a:r>
              <a:rPr lang="en-US" sz="6000" dirty="0">
                <a:solidFill>
                  <a:srgbClr val="373737"/>
                </a:solidFill>
                <a:latin typeface="Open Sans Extra Bold"/>
                <a:ea typeface="Open Sans Extra Bold"/>
                <a:cs typeface="Open Sans Extra Bold"/>
                <a:sym typeface="Open Sans Extra Bold"/>
              </a:rPr>
              <a:t>Limitations</a:t>
            </a:r>
          </a:p>
        </p:txBody>
      </p:sp>
      <p:pic>
        <p:nvPicPr>
          <p:cNvPr id="8" name="Picture 7">
            <a:extLst>
              <a:ext uri="{FF2B5EF4-FFF2-40B4-BE49-F238E27FC236}">
                <a16:creationId xmlns:a16="http://schemas.microsoft.com/office/drawing/2014/main" id="{FA94E54C-B82D-3E59-F4AC-64BC37510839}"/>
              </a:ext>
            </a:extLst>
          </p:cNvPr>
          <p:cNvPicPr>
            <a:picLocks noChangeAspect="1"/>
          </p:cNvPicPr>
          <p:nvPr/>
        </p:nvPicPr>
        <p:blipFill>
          <a:blip r:embed="rId4"/>
          <a:stretch>
            <a:fillRect/>
          </a:stretch>
        </p:blipFill>
        <p:spPr>
          <a:xfrm>
            <a:off x="2162843" y="2044698"/>
            <a:ext cx="14987533" cy="7856917"/>
          </a:xfrm>
          <a:prstGeom prst="rect">
            <a:avLst/>
          </a:prstGeom>
        </p:spPr>
      </p:pic>
      <p:sp>
        <p:nvSpPr>
          <p:cNvPr id="10" name="TextBox 9">
            <a:extLst>
              <a:ext uri="{FF2B5EF4-FFF2-40B4-BE49-F238E27FC236}">
                <a16:creationId xmlns:a16="http://schemas.microsoft.com/office/drawing/2014/main" id="{9B320ECE-EE94-6532-67A4-244426AEAB6C}"/>
              </a:ext>
            </a:extLst>
          </p:cNvPr>
          <p:cNvSpPr txBox="1"/>
          <p:nvPr/>
        </p:nvSpPr>
        <p:spPr>
          <a:xfrm>
            <a:off x="4184799" y="2510076"/>
            <a:ext cx="12961640" cy="1569660"/>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Lack of information regarding the Mode of Transportation </a:t>
            </a:r>
          </a:p>
          <a:p>
            <a:r>
              <a:rPr lang="en-GB" sz="3200" b="1" dirty="0">
                <a:solidFill>
                  <a:schemeClr val="bg1"/>
                </a:solidFill>
                <a:latin typeface="Abadi Extra Light" panose="020F0502020204030204" pitchFamily="34" charset="0"/>
              </a:rPr>
              <a:t>(e.g., air, land, or sea)</a:t>
            </a:r>
          </a:p>
          <a:p>
            <a:r>
              <a:rPr lang="en-GB" sz="3200" dirty="0">
                <a:solidFill>
                  <a:schemeClr val="bg1"/>
                </a:solidFill>
                <a:latin typeface="Abadi Extra Light" panose="020F0502020204030204" pitchFamily="34" charset="0"/>
              </a:rPr>
              <a:t>This affects the interpretation of delivery times and logistics performance.</a:t>
            </a:r>
          </a:p>
        </p:txBody>
      </p:sp>
      <p:sp>
        <p:nvSpPr>
          <p:cNvPr id="11" name="TextBox 10">
            <a:extLst>
              <a:ext uri="{FF2B5EF4-FFF2-40B4-BE49-F238E27FC236}">
                <a16:creationId xmlns:a16="http://schemas.microsoft.com/office/drawing/2014/main" id="{9AF2AE78-6379-7D58-2AA0-7411CB2931C5}"/>
              </a:ext>
            </a:extLst>
          </p:cNvPr>
          <p:cNvSpPr txBox="1"/>
          <p:nvPr/>
        </p:nvSpPr>
        <p:spPr>
          <a:xfrm>
            <a:off x="4184799" y="4855900"/>
            <a:ext cx="11940358" cy="1569660"/>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Unclear Delay Reasons</a:t>
            </a:r>
          </a:p>
          <a:p>
            <a:r>
              <a:rPr lang="en-GB" sz="3200" dirty="0">
                <a:solidFill>
                  <a:schemeClr val="bg1"/>
                </a:solidFill>
                <a:latin typeface="Abadi Extra Light" panose="020F0502020204030204" pitchFamily="34" charset="0"/>
              </a:rPr>
              <a:t>The logistics provider did not share specific reasons for late deliveries, making it difficult to identify root causes.</a:t>
            </a:r>
          </a:p>
        </p:txBody>
      </p:sp>
      <p:pic>
        <p:nvPicPr>
          <p:cNvPr id="13" name="Graphic 12" descr="Badge 1 with solid fill">
            <a:extLst>
              <a:ext uri="{FF2B5EF4-FFF2-40B4-BE49-F238E27FC236}">
                <a16:creationId xmlns:a16="http://schemas.microsoft.com/office/drawing/2014/main" id="{55B083E9-2B9F-8EC2-2CC4-810E3ED2F0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07528" y="2760417"/>
            <a:ext cx="1065600" cy="1065600"/>
          </a:xfrm>
          <a:prstGeom prst="rect">
            <a:avLst/>
          </a:prstGeom>
        </p:spPr>
      </p:pic>
      <p:pic>
        <p:nvPicPr>
          <p:cNvPr id="16" name="Graphic 15" descr="Badge with solid fill">
            <a:extLst>
              <a:ext uri="{FF2B5EF4-FFF2-40B4-BE49-F238E27FC236}">
                <a16:creationId xmlns:a16="http://schemas.microsoft.com/office/drawing/2014/main" id="{200DCA93-FE36-87F2-3CF4-E7181BFCED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07528" y="5107930"/>
            <a:ext cx="1065600" cy="1065600"/>
          </a:xfrm>
          <a:prstGeom prst="rect">
            <a:avLst/>
          </a:prstGeom>
        </p:spPr>
      </p:pic>
      <p:sp>
        <p:nvSpPr>
          <p:cNvPr id="18" name="TextBox 17">
            <a:extLst>
              <a:ext uri="{FF2B5EF4-FFF2-40B4-BE49-F238E27FC236}">
                <a16:creationId xmlns:a16="http://schemas.microsoft.com/office/drawing/2014/main" id="{D56BC8AC-7CFF-6345-10EA-7D6879E4FD1E}"/>
              </a:ext>
            </a:extLst>
          </p:cNvPr>
          <p:cNvSpPr txBox="1"/>
          <p:nvPr/>
        </p:nvSpPr>
        <p:spPr>
          <a:xfrm>
            <a:off x="4271371" y="7378757"/>
            <a:ext cx="13223690" cy="1569660"/>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Incomplete Timeline</a:t>
            </a:r>
          </a:p>
          <a:p>
            <a:r>
              <a:rPr lang="en-GB" sz="3200" b="1" dirty="0">
                <a:solidFill>
                  <a:schemeClr val="bg1"/>
                </a:solidFill>
                <a:latin typeface="Abadi Extra Light" panose="020F0502020204030204" pitchFamily="34" charset="0"/>
              </a:rPr>
              <a:t>2016: Only includes November–December data </a:t>
            </a:r>
          </a:p>
          <a:p>
            <a:r>
              <a:rPr lang="en-GB" sz="3200" b="1" dirty="0">
                <a:solidFill>
                  <a:schemeClr val="bg1"/>
                </a:solidFill>
                <a:latin typeface="Abadi Extra Light" panose="020F0502020204030204" pitchFamily="34" charset="0"/>
              </a:rPr>
              <a:t>2018: Only includes data until October.</a:t>
            </a:r>
          </a:p>
        </p:txBody>
      </p:sp>
      <p:pic>
        <p:nvPicPr>
          <p:cNvPr id="20" name="Graphic 19" descr="Badge 3 with solid fill">
            <a:extLst>
              <a:ext uri="{FF2B5EF4-FFF2-40B4-BE49-F238E27FC236}">
                <a16:creationId xmlns:a16="http://schemas.microsoft.com/office/drawing/2014/main" id="{1C512097-4E90-9D7D-AA65-80C9835F07B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07528" y="7800478"/>
            <a:ext cx="1065600" cy="1065600"/>
          </a:xfrm>
          <a:prstGeom prst="rect">
            <a:avLst/>
          </a:prstGeom>
        </p:spPr>
      </p:pic>
    </p:spTree>
    <p:extLst>
      <p:ext uri="{BB962C8B-B14F-4D97-AF65-F5344CB8AC3E}">
        <p14:creationId xmlns:p14="http://schemas.microsoft.com/office/powerpoint/2010/main" val="1417982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73C5C-DA77-6384-2B52-53238C437A3A}"/>
            </a:ext>
          </a:extLst>
        </p:cNvPr>
        <p:cNvGrpSpPr/>
        <p:nvPr/>
      </p:nvGrpSpPr>
      <p:grpSpPr>
        <a:xfrm>
          <a:off x="0" y="0"/>
          <a:ext cx="0" cy="0"/>
          <a:chOff x="0" y="0"/>
          <a:chExt cx="0" cy="0"/>
        </a:xfrm>
      </p:grpSpPr>
      <p:sp>
        <p:nvSpPr>
          <p:cNvPr id="7" name="Freeform 10">
            <a:extLst>
              <a:ext uri="{FF2B5EF4-FFF2-40B4-BE49-F238E27FC236}">
                <a16:creationId xmlns:a16="http://schemas.microsoft.com/office/drawing/2014/main" id="{FECC577E-0D79-D0EA-5FE7-11EAB53BB646}"/>
              </a:ext>
            </a:extLst>
          </p:cNvPr>
          <p:cNvSpPr/>
          <p:nvPr/>
        </p:nvSpPr>
        <p:spPr>
          <a:xfrm rot="13169263">
            <a:off x="-658713" y="2436203"/>
            <a:ext cx="3440167" cy="2757856"/>
          </a:xfrm>
          <a:custGeom>
            <a:avLst/>
            <a:gdLst/>
            <a:ahLst/>
            <a:cxnLst/>
            <a:rect l="l" t="t" r="r" b="b"/>
            <a:pathLst>
              <a:path w="2788582" h="2042637">
                <a:moveTo>
                  <a:pt x="0" y="0"/>
                </a:moveTo>
                <a:lnTo>
                  <a:pt x="2788582" y="0"/>
                </a:lnTo>
                <a:lnTo>
                  <a:pt x="2788582" y="2042637"/>
                </a:lnTo>
                <a:lnTo>
                  <a:pt x="0" y="20426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BH"/>
          </a:p>
        </p:txBody>
      </p:sp>
      <p:cxnSp>
        <p:nvCxnSpPr>
          <p:cNvPr id="5" name="Straight Connector 4">
            <a:extLst>
              <a:ext uri="{FF2B5EF4-FFF2-40B4-BE49-F238E27FC236}">
                <a16:creationId xmlns:a16="http://schemas.microsoft.com/office/drawing/2014/main" id="{423883C1-CBA5-4732-F630-A1536857A3FE}"/>
              </a:ext>
            </a:extLst>
          </p:cNvPr>
          <p:cNvCxnSpPr>
            <a:cxnSpLocks/>
          </p:cNvCxnSpPr>
          <p:nvPr/>
        </p:nvCxnSpPr>
        <p:spPr>
          <a:xfrm>
            <a:off x="0" y="417749"/>
            <a:ext cx="18288000" cy="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E416FA-962D-6E4C-194C-B5FF8FD7F6FA}"/>
              </a:ext>
            </a:extLst>
          </p:cNvPr>
          <p:cNvCxnSpPr>
            <a:cxnSpLocks/>
          </p:cNvCxnSpPr>
          <p:nvPr/>
        </p:nvCxnSpPr>
        <p:spPr>
          <a:xfrm>
            <a:off x="538843" y="0"/>
            <a:ext cx="0" cy="1790700"/>
          </a:xfrm>
          <a:prstGeom prst="line">
            <a:avLst/>
          </a:prstGeom>
          <a:ln w="57150">
            <a:solidFill>
              <a:srgbClr val="6E3C59"/>
            </a:solidFill>
          </a:ln>
        </p:spPr>
        <p:style>
          <a:lnRef idx="1">
            <a:schemeClr val="accent1"/>
          </a:lnRef>
          <a:fillRef idx="0">
            <a:schemeClr val="accent1"/>
          </a:fillRef>
          <a:effectRef idx="0">
            <a:schemeClr val="accent1"/>
          </a:effectRef>
          <a:fontRef idx="minor">
            <a:schemeClr val="tx1"/>
          </a:fontRef>
        </p:style>
      </p:cxnSp>
      <p:sp>
        <p:nvSpPr>
          <p:cNvPr id="9" name="TextBox 38">
            <a:extLst>
              <a:ext uri="{FF2B5EF4-FFF2-40B4-BE49-F238E27FC236}">
                <a16:creationId xmlns:a16="http://schemas.microsoft.com/office/drawing/2014/main" id="{A64FC17E-4EB1-D636-7A34-13ED3B2FCAB0}"/>
              </a:ext>
            </a:extLst>
          </p:cNvPr>
          <p:cNvSpPr txBox="1"/>
          <p:nvPr/>
        </p:nvSpPr>
        <p:spPr>
          <a:xfrm>
            <a:off x="1195441" y="662091"/>
            <a:ext cx="15897117" cy="1150828"/>
          </a:xfrm>
          <a:prstGeom prst="rect">
            <a:avLst/>
          </a:prstGeom>
        </p:spPr>
        <p:txBody>
          <a:bodyPr wrap="square" lIns="0" tIns="0" rIns="0" bIns="0" rtlCol="0" anchor="t">
            <a:spAutoFit/>
          </a:bodyPr>
          <a:lstStyle/>
          <a:p>
            <a:pPr algn="ctr">
              <a:lnSpc>
                <a:spcPts val="9900"/>
              </a:lnSpc>
            </a:pPr>
            <a:r>
              <a:rPr lang="en-US" sz="6000" dirty="0">
                <a:solidFill>
                  <a:srgbClr val="373737"/>
                </a:solidFill>
                <a:latin typeface="Open Sans Extra Bold"/>
                <a:ea typeface="Open Sans Extra Bold"/>
                <a:cs typeface="Open Sans Extra Bold"/>
                <a:sym typeface="Open Sans Extra Bold"/>
              </a:rPr>
              <a:t>Recommendations</a:t>
            </a:r>
          </a:p>
        </p:txBody>
      </p:sp>
      <p:pic>
        <p:nvPicPr>
          <p:cNvPr id="8" name="Picture 7">
            <a:extLst>
              <a:ext uri="{FF2B5EF4-FFF2-40B4-BE49-F238E27FC236}">
                <a16:creationId xmlns:a16="http://schemas.microsoft.com/office/drawing/2014/main" id="{9640891B-0610-26B1-2FD8-DF97BFA28977}"/>
              </a:ext>
            </a:extLst>
          </p:cNvPr>
          <p:cNvPicPr>
            <a:picLocks noChangeAspect="1"/>
          </p:cNvPicPr>
          <p:nvPr/>
        </p:nvPicPr>
        <p:blipFill>
          <a:blip r:embed="rId4"/>
          <a:stretch>
            <a:fillRect/>
          </a:stretch>
        </p:blipFill>
        <p:spPr>
          <a:xfrm>
            <a:off x="2514600" y="1812919"/>
            <a:ext cx="14366236" cy="7531214"/>
          </a:xfrm>
          <a:prstGeom prst="rect">
            <a:avLst/>
          </a:prstGeom>
        </p:spPr>
      </p:pic>
      <p:sp>
        <p:nvSpPr>
          <p:cNvPr id="11" name="TextBox 10">
            <a:extLst>
              <a:ext uri="{FF2B5EF4-FFF2-40B4-BE49-F238E27FC236}">
                <a16:creationId xmlns:a16="http://schemas.microsoft.com/office/drawing/2014/main" id="{8252668A-710C-03FB-F76B-E5525B89BA4A}"/>
              </a:ext>
            </a:extLst>
          </p:cNvPr>
          <p:cNvSpPr txBox="1"/>
          <p:nvPr/>
        </p:nvSpPr>
        <p:spPr>
          <a:xfrm>
            <a:off x="3955136" y="2587494"/>
            <a:ext cx="12496800" cy="584775"/>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Take a strategic phased approach for partnership with the Logistic company</a:t>
            </a:r>
            <a:endParaRPr lang="en-GB" sz="3200" dirty="0">
              <a:solidFill>
                <a:schemeClr val="bg1"/>
              </a:solidFill>
              <a:latin typeface="Abadi Extra Light" panose="020F0502020204030204" pitchFamily="34" charset="0"/>
            </a:endParaRPr>
          </a:p>
        </p:txBody>
      </p:sp>
      <p:pic>
        <p:nvPicPr>
          <p:cNvPr id="12" name="Graphic 11" descr="Badge 1 with solid fill">
            <a:extLst>
              <a:ext uri="{FF2B5EF4-FFF2-40B4-BE49-F238E27FC236}">
                <a16:creationId xmlns:a16="http://schemas.microsoft.com/office/drawing/2014/main" id="{CDD994CB-3F81-5CE1-8978-D27E5C70BC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14472" y="3594906"/>
            <a:ext cx="1066800" cy="1066800"/>
          </a:xfrm>
          <a:prstGeom prst="rect">
            <a:avLst/>
          </a:prstGeom>
        </p:spPr>
      </p:pic>
      <p:pic>
        <p:nvPicPr>
          <p:cNvPr id="13" name="Graphic 12" descr="Badge with solid fill">
            <a:extLst>
              <a:ext uri="{FF2B5EF4-FFF2-40B4-BE49-F238E27FC236}">
                <a16:creationId xmlns:a16="http://schemas.microsoft.com/office/drawing/2014/main" id="{2EA812D8-FB51-24E8-4949-12CA32C8ED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9029" y="6329253"/>
            <a:ext cx="1065600" cy="1065600"/>
          </a:xfrm>
          <a:prstGeom prst="rect">
            <a:avLst/>
          </a:prstGeom>
        </p:spPr>
      </p:pic>
      <p:sp>
        <p:nvSpPr>
          <p:cNvPr id="14" name="TextBox 13">
            <a:extLst>
              <a:ext uri="{FF2B5EF4-FFF2-40B4-BE49-F238E27FC236}">
                <a16:creationId xmlns:a16="http://schemas.microsoft.com/office/drawing/2014/main" id="{122EC2A4-0354-B0E5-728E-952A6C811030}"/>
              </a:ext>
            </a:extLst>
          </p:cNvPr>
          <p:cNvSpPr txBox="1"/>
          <p:nvPr/>
        </p:nvSpPr>
        <p:spPr>
          <a:xfrm>
            <a:off x="4793336" y="3594906"/>
            <a:ext cx="11658600" cy="1077218"/>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Negotiate a revised SLA-based contract with the current partner that links pricing to delivery performance.</a:t>
            </a:r>
            <a:endParaRPr lang="en-GB" sz="3200" dirty="0">
              <a:solidFill>
                <a:schemeClr val="bg1"/>
              </a:solidFill>
              <a:latin typeface="Abadi Extra Light" panose="020F0502020204030204" pitchFamily="34" charset="0"/>
            </a:endParaRPr>
          </a:p>
        </p:txBody>
      </p:sp>
      <p:sp>
        <p:nvSpPr>
          <p:cNvPr id="15" name="TextBox 14">
            <a:extLst>
              <a:ext uri="{FF2B5EF4-FFF2-40B4-BE49-F238E27FC236}">
                <a16:creationId xmlns:a16="http://schemas.microsoft.com/office/drawing/2014/main" id="{1152F535-F7ED-72CB-041B-64F1046DF21D}"/>
              </a:ext>
            </a:extLst>
          </p:cNvPr>
          <p:cNvSpPr txBox="1"/>
          <p:nvPr/>
        </p:nvSpPr>
        <p:spPr>
          <a:xfrm>
            <a:off x="4767943" y="6357096"/>
            <a:ext cx="11658600" cy="1077218"/>
          </a:xfrm>
          <a:prstGeom prst="rect">
            <a:avLst/>
          </a:prstGeom>
          <a:noFill/>
        </p:spPr>
        <p:txBody>
          <a:bodyPr wrap="square" rtlCol="0">
            <a:spAutoFit/>
          </a:bodyPr>
          <a:lstStyle/>
          <a:p>
            <a:r>
              <a:rPr lang="en-GB" sz="3200" b="1" dirty="0">
                <a:solidFill>
                  <a:schemeClr val="bg1"/>
                </a:solidFill>
                <a:latin typeface="Abadi Extra Light" panose="020F0502020204030204" pitchFamily="34" charset="0"/>
              </a:rPr>
              <a:t>Define features clearly  (shipping methods, cost per kg, reasons for delay etc.) to monitor logistics performance moving forward.</a:t>
            </a:r>
            <a:endParaRPr lang="en-GB" sz="3200" dirty="0">
              <a:solidFill>
                <a:schemeClr val="bg1"/>
              </a:solidFill>
              <a:latin typeface="Abadi Extra Light" panose="020F0502020204030204" pitchFamily="34" charset="0"/>
            </a:endParaRPr>
          </a:p>
        </p:txBody>
      </p:sp>
    </p:spTree>
    <p:extLst>
      <p:ext uri="{BB962C8B-B14F-4D97-AF65-F5344CB8AC3E}">
        <p14:creationId xmlns:p14="http://schemas.microsoft.com/office/powerpoint/2010/main" val="1344682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6564-9561-194F-BB58-6F97EC9D9838}"/>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5871B8E-0E28-2020-1775-BDB5BD07DDA6}"/>
              </a:ext>
            </a:extLst>
          </p:cNvPr>
          <p:cNvSpPr txBox="1"/>
          <p:nvPr/>
        </p:nvSpPr>
        <p:spPr>
          <a:xfrm>
            <a:off x="1914523" y="3816085"/>
            <a:ext cx="14426296" cy="1477328"/>
          </a:xfrm>
          <a:prstGeom prst="rect">
            <a:avLst/>
          </a:prstGeom>
        </p:spPr>
        <p:txBody>
          <a:bodyPr wrap="square" lIns="0" tIns="0" rIns="0" bIns="0" rtlCol="0" anchor="t">
            <a:spAutoFit/>
          </a:bodyPr>
          <a:lstStyle/>
          <a:p>
            <a:pPr algn="ctr"/>
            <a:r>
              <a:rPr lang="en-US" sz="9600" dirty="0">
                <a:latin typeface="Modern Love" panose="04090805081005020601" pitchFamily="82" charset="0"/>
                <a:ea typeface="Open Sans Extra Bold"/>
                <a:cs typeface="Open Sans Extra Bold"/>
                <a:sym typeface="Open Sans Extra Bold"/>
              </a:rPr>
              <a:t>Thank You</a:t>
            </a:r>
          </a:p>
        </p:txBody>
      </p:sp>
      <p:sp>
        <p:nvSpPr>
          <p:cNvPr id="13" name="Freeform 12">
            <a:extLst>
              <a:ext uri="{FF2B5EF4-FFF2-40B4-BE49-F238E27FC236}">
                <a16:creationId xmlns:a16="http://schemas.microsoft.com/office/drawing/2014/main" id="{03C653A8-68A3-0DF1-A2A4-F1D17E15CD0F}"/>
              </a:ext>
            </a:extLst>
          </p:cNvPr>
          <p:cNvSpPr/>
          <p:nvPr/>
        </p:nvSpPr>
        <p:spPr>
          <a:xfrm>
            <a:off x="4419600" y="5829940"/>
            <a:ext cx="752936" cy="1142977"/>
          </a:xfrm>
          <a:custGeom>
            <a:avLst/>
            <a:gdLst/>
            <a:ahLst/>
            <a:cxnLst/>
            <a:rect l="l" t="t" r="r" b="b"/>
            <a:pathLst>
              <a:path w="752936" h="1142977">
                <a:moveTo>
                  <a:pt x="0" y="0"/>
                </a:moveTo>
                <a:lnTo>
                  <a:pt x="752937" y="0"/>
                </a:lnTo>
                <a:lnTo>
                  <a:pt x="752937" y="1142977"/>
                </a:lnTo>
                <a:lnTo>
                  <a:pt x="0" y="11429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ar-BH" dirty="0"/>
          </a:p>
        </p:txBody>
      </p:sp>
      <p:cxnSp>
        <p:nvCxnSpPr>
          <p:cNvPr id="29" name="Straight Connector 28">
            <a:extLst>
              <a:ext uri="{FF2B5EF4-FFF2-40B4-BE49-F238E27FC236}">
                <a16:creationId xmlns:a16="http://schemas.microsoft.com/office/drawing/2014/main" id="{461527D9-5897-3457-FBCF-4BB6FE25CB9A}"/>
              </a:ext>
            </a:extLst>
          </p:cNvPr>
          <p:cNvCxnSpPr/>
          <p:nvPr/>
        </p:nvCxnSpPr>
        <p:spPr>
          <a:xfrm>
            <a:off x="0" y="538844"/>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1047501-B9AE-FB35-0367-5C7B27D146B9}"/>
              </a:ext>
            </a:extLst>
          </p:cNvPr>
          <p:cNvCxnSpPr/>
          <p:nvPr/>
        </p:nvCxnSpPr>
        <p:spPr>
          <a:xfrm>
            <a:off x="0" y="9867900"/>
            <a:ext cx="18288000" cy="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9BA8860-CAF1-D857-CFA2-1E5BB08D255E}"/>
              </a:ext>
            </a:extLst>
          </p:cNvPr>
          <p:cNvCxnSpPr>
            <a:cxnSpLocks/>
          </p:cNvCxnSpPr>
          <p:nvPr/>
        </p:nvCxnSpPr>
        <p:spPr>
          <a:xfrm>
            <a:off x="698367" y="0"/>
            <a:ext cx="0" cy="1028700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F321F3-BF23-7545-F7F6-10761BA87A55}"/>
              </a:ext>
            </a:extLst>
          </p:cNvPr>
          <p:cNvCxnSpPr>
            <a:cxnSpLocks/>
          </p:cNvCxnSpPr>
          <p:nvPr/>
        </p:nvCxnSpPr>
        <p:spPr>
          <a:xfrm>
            <a:off x="17589633" y="0"/>
            <a:ext cx="0" cy="10287000"/>
          </a:xfrm>
          <a:prstGeom prst="line">
            <a:avLst/>
          </a:prstGeom>
          <a:ln w="28575">
            <a:solidFill>
              <a:srgbClr val="6E3C59"/>
            </a:solidFill>
          </a:ln>
        </p:spPr>
        <p:style>
          <a:lnRef idx="1">
            <a:schemeClr val="accent1"/>
          </a:lnRef>
          <a:fillRef idx="0">
            <a:schemeClr val="accent1"/>
          </a:fillRef>
          <a:effectRef idx="0">
            <a:schemeClr val="accent1"/>
          </a:effectRef>
          <a:fontRef idx="minor">
            <a:schemeClr val="tx1"/>
          </a:fontRef>
        </p:style>
      </p:cxnSp>
      <p:pic>
        <p:nvPicPr>
          <p:cNvPr id="1026" name="Picture 2" descr="Generated image">
            <a:extLst>
              <a:ext uri="{FF2B5EF4-FFF2-40B4-BE49-F238E27FC236}">
                <a16:creationId xmlns:a16="http://schemas.microsoft.com/office/drawing/2014/main" id="{B09292BB-42CF-D0B0-C277-7362247289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2" y="5143500"/>
            <a:ext cx="6705599" cy="670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715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2949</TotalTime>
  <Words>369</Words>
  <Application>Microsoft Office PowerPoint</Application>
  <PresentationFormat>Custom</PresentationFormat>
  <Paragraphs>53</Paragraphs>
  <Slides>17</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Modern Love</vt:lpstr>
      <vt:lpstr>Calibri</vt:lpstr>
      <vt:lpstr>Arial</vt:lpstr>
      <vt:lpstr>Aptos</vt:lpstr>
      <vt:lpstr>Open Sans Extra Bold</vt:lpstr>
      <vt:lpstr>Cairo Bold</vt:lpstr>
      <vt:lpstr>Abadi Extra Light</vt:lpstr>
      <vt:lpstr>ADLaM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Black Modern Minimal Marketing Plan Pitch Deck Presentation</dc:title>
  <cp:lastModifiedBy>Mariam Azam</cp:lastModifiedBy>
  <cp:revision>15</cp:revision>
  <dcterms:created xsi:type="dcterms:W3CDTF">2006-08-16T00:00:00Z</dcterms:created>
  <dcterms:modified xsi:type="dcterms:W3CDTF">2025-11-21T13:57:25Z</dcterms:modified>
  <dc:identifier>DAGooBxWSnw</dc:identifier>
</cp:coreProperties>
</file>